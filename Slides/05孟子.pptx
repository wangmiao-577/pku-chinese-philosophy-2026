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3"/>
    <p:sldId id="468" r:id="rId4"/>
    <p:sldId id="471" r:id="rId5"/>
    <p:sldId id="439" r:id="rId6"/>
    <p:sldId id="470" r:id="rId7"/>
    <p:sldId id="502" r:id="rId8"/>
    <p:sldId id="503" r:id="rId9"/>
    <p:sldId id="414" r:id="rId10"/>
    <p:sldId id="473" r:id="rId11"/>
    <p:sldId id="504" r:id="rId12"/>
    <p:sldId id="505" r:id="rId13"/>
    <p:sldId id="506" r:id="rId14"/>
    <p:sldId id="512" r:id="rId15"/>
    <p:sldId id="513" r:id="rId16"/>
    <p:sldId id="507" r:id="rId17"/>
    <p:sldId id="508" r:id="rId18"/>
    <p:sldId id="509" r:id="rId19"/>
    <p:sldId id="510" r:id="rId20"/>
    <p:sldId id="511" r:id="rId21"/>
    <p:sldId id="445" r:id="rId22"/>
    <p:sldId id="477" r:id="rId23"/>
    <p:sldId id="514" r:id="rId24"/>
    <p:sldId id="515" r:id="rId25"/>
    <p:sldId id="451" r:id="rId26"/>
    <p:sldId id="484" r:id="rId27"/>
    <p:sldId id="516" r:id="rId28"/>
    <p:sldId id="517" r:id="rId29"/>
  </p:sldIdLst>
  <p:sldSz cx="12192000" cy="6858000"/>
  <p:notesSz cx="6858000" cy="9144000"/>
  <p:custDataLst>
    <p:tags r:id="rId3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44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86483" autoAdjust="0"/>
  </p:normalViewPr>
  <p:slideViewPr>
    <p:cSldViewPr snapToGrid="0" showGuides="1">
      <p:cViewPr varScale="1">
        <p:scale>
          <a:sx n="85" d="100"/>
          <a:sy n="85" d="100"/>
        </p:scale>
        <p:origin x="48" y="62"/>
      </p:cViewPr>
      <p:guideLst>
        <p:guide pos="416"/>
        <p:guide pos="7256"/>
        <p:guide orient="horz" pos="648"/>
        <p:guide orient="horz" pos="744"/>
        <p:guide orient="horz" pos="3928"/>
        <p:guide orient="horz" pos="38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4" Type="http://schemas.openxmlformats.org/officeDocument/2006/relationships/tags" Target="tags/tag28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285F5D-EB2F-4FB1-B480-9E4327591A9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62785-86A3-400D-9182-96AB45421CC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7" name="图片 6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任意多边形: 形状 8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866900" y="1778000"/>
            <a:ext cx="8445500" cy="183359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2873418" y="3788572"/>
            <a:ext cx="6432464" cy="759253"/>
          </a:xfr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en-US"/>
              <a:t>Click to add subtitle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861300" y="5859780"/>
            <a:ext cx="3657600" cy="27432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matchingName="Agenda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0400" y="1500187"/>
            <a:ext cx="2836562" cy="915667"/>
          </a:xfrm>
        </p:spPr>
        <p:txBody>
          <a:bodyPr anchor="t">
            <a:normAutofit/>
          </a:bodyPr>
          <a:lstStyle>
            <a:lvl1pPr algn="r">
              <a:defRPr sz="2800"/>
            </a:lvl1pPr>
          </a:lstStyle>
          <a:p>
            <a:pPr lvl="0"/>
            <a:r>
              <a:rPr lang="en-US"/>
              <a:t>Agenda</a:t>
            </a:r>
            <a:endParaRPr lang="en-US"/>
          </a:p>
        </p:txBody>
      </p:sp>
      <p:sp>
        <p:nvSpPr>
          <p:cNvPr id="3" name="内容占位符 2"/>
          <p:cNvSpPr>
            <a:spLocks noGrp="1"/>
          </p:cNvSpPr>
          <p:nvPr>
            <p:ph sz="quarter" idx="1" hasCustomPrompt="1"/>
          </p:nvPr>
        </p:nvSpPr>
        <p:spPr>
          <a:xfrm>
            <a:off x="3745078" y="1500188"/>
            <a:ext cx="7773821" cy="4633912"/>
          </a:xfrm>
        </p:spPr>
        <p:txBody>
          <a:bodyPr/>
          <a:lstStyle>
            <a:lvl1pPr marL="342900" indent="-342900">
              <a:lnSpc>
                <a:spcPct val="100000"/>
              </a:lnSpc>
              <a:buFont typeface="+mj-lt"/>
              <a:buAutoNum type="arabicPeriod"/>
              <a:defRPr/>
            </a:lvl1pPr>
            <a:lvl2pPr marL="800100" indent="-342900">
              <a:lnSpc>
                <a:spcPct val="100000"/>
              </a:lnSpc>
              <a:buFont typeface="+mj-ea"/>
              <a:buAutoNum type="circleNumDbPlain"/>
              <a:defRPr/>
            </a:lvl2pPr>
            <a:lvl3pPr marL="1257300" indent="-342900">
              <a:lnSpc>
                <a:spcPct val="100000"/>
              </a:lnSpc>
              <a:buFont typeface="+mj-lt"/>
              <a:buAutoNum type="alphaLcParenR"/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 dirty="0"/>
          </a:p>
        </p:txBody>
      </p:sp>
      <p:cxnSp>
        <p:nvCxnSpPr>
          <p:cNvPr id="7" name="直接连接符 6"/>
          <p:cNvCxnSpPr/>
          <p:nvPr/>
        </p:nvCxnSpPr>
        <p:spPr>
          <a:xfrm>
            <a:off x="3621019" y="1500188"/>
            <a:ext cx="0" cy="4633913"/>
          </a:xfrm>
          <a:prstGeom prst="line">
            <a:avLst/>
          </a:prstGeom>
          <a:solidFill>
            <a:srgbClr val="FFCC00"/>
          </a:solidFill>
          <a:ln w="3175" cap="flat" cmpd="sng" algn="ctr">
            <a:solidFill>
              <a:schemeClr val="tx2">
                <a:lumMod val="60000"/>
                <a:lumOff val="4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8" name="任意多边形: 形状 7"/>
          <p:cNvSpPr>
            <a:spLocks noChangeAspect="1"/>
          </p:cNvSpPr>
          <p:nvPr/>
        </p:nvSpPr>
        <p:spPr bwMode="auto">
          <a:xfrm>
            <a:off x="2626456" y="5219207"/>
            <a:ext cx="870506" cy="915667"/>
          </a:xfrm>
          <a:custGeom>
            <a:avLst/>
            <a:gdLst>
              <a:gd name="T0" fmla="*/ 3353 w 5127"/>
              <a:gd name="T1" fmla="*/ 1728 h 5401"/>
              <a:gd name="T2" fmla="*/ 2183 w 5127"/>
              <a:gd name="T3" fmla="*/ 1608 h 5401"/>
              <a:gd name="T4" fmla="*/ 3353 w 5127"/>
              <a:gd name="T5" fmla="*/ 1488 h 5401"/>
              <a:gd name="T6" fmla="*/ 3103 w 5127"/>
              <a:gd name="T7" fmla="*/ 2231 h 5401"/>
              <a:gd name="T8" fmla="*/ 3103 w 5127"/>
              <a:gd name="T9" fmla="*/ 1991 h 5401"/>
              <a:gd name="T10" fmla="*/ 2432 w 5127"/>
              <a:gd name="T11" fmla="*/ 2111 h 5401"/>
              <a:gd name="T12" fmla="*/ 3103 w 5127"/>
              <a:gd name="T13" fmla="*/ 2231 h 5401"/>
              <a:gd name="T14" fmla="*/ 3353 w 5127"/>
              <a:gd name="T15" fmla="*/ 2648 h 5401"/>
              <a:gd name="T16" fmla="*/ 2183 w 5127"/>
              <a:gd name="T17" fmla="*/ 2768 h 5401"/>
              <a:gd name="T18" fmla="*/ 3353 w 5127"/>
              <a:gd name="T19" fmla="*/ 2888 h 5401"/>
              <a:gd name="T20" fmla="*/ 2552 w 5127"/>
              <a:gd name="T21" fmla="*/ 3151 h 5401"/>
              <a:gd name="T22" fmla="*/ 2552 w 5127"/>
              <a:gd name="T23" fmla="*/ 3391 h 5401"/>
              <a:gd name="T24" fmla="*/ 3223 w 5127"/>
              <a:gd name="T25" fmla="*/ 3271 h 5401"/>
              <a:gd name="T26" fmla="*/ 2552 w 5127"/>
              <a:gd name="T27" fmla="*/ 3151 h 5401"/>
              <a:gd name="T28" fmla="*/ 4448 w 5127"/>
              <a:gd name="T29" fmla="*/ 1442 h 5401"/>
              <a:gd name="T30" fmla="*/ 4688 w 5127"/>
              <a:gd name="T31" fmla="*/ 1442 h 5401"/>
              <a:gd name="T32" fmla="*/ 3988 w 5127"/>
              <a:gd name="T33" fmla="*/ 0 h 5401"/>
              <a:gd name="T34" fmla="*/ 0 w 5127"/>
              <a:gd name="T35" fmla="*/ 604 h 5401"/>
              <a:gd name="T36" fmla="*/ 120 w 5127"/>
              <a:gd name="T37" fmla="*/ 1792 h 5401"/>
              <a:gd name="T38" fmla="*/ 686 w 5127"/>
              <a:gd name="T39" fmla="*/ 1672 h 5401"/>
              <a:gd name="T40" fmla="*/ 240 w 5127"/>
              <a:gd name="T41" fmla="*/ 1552 h 5401"/>
              <a:gd name="T42" fmla="*/ 604 w 5127"/>
              <a:gd name="T43" fmla="*/ 240 h 5401"/>
              <a:gd name="T44" fmla="*/ 968 w 5127"/>
              <a:gd name="T45" fmla="*/ 4179 h 5401"/>
              <a:gd name="T46" fmla="*/ 3904 w 5127"/>
              <a:gd name="T47" fmla="*/ 4879 h 5401"/>
              <a:gd name="T48" fmla="*/ 3904 w 5127"/>
              <a:gd name="T49" fmla="*/ 4639 h 5401"/>
              <a:gd name="T50" fmla="*/ 1208 w 5127"/>
              <a:gd name="T51" fmla="*/ 4179 h 5401"/>
              <a:gd name="T52" fmla="*/ 1086 w 5127"/>
              <a:gd name="T53" fmla="*/ 240 h 5401"/>
              <a:gd name="T54" fmla="*/ 4448 w 5127"/>
              <a:gd name="T55" fmla="*/ 700 h 5401"/>
              <a:gd name="T56" fmla="*/ 4568 w 5127"/>
              <a:gd name="T57" fmla="*/ 2000 h 5401"/>
              <a:gd name="T58" fmla="*/ 4568 w 5127"/>
              <a:gd name="T59" fmla="*/ 2240 h 5401"/>
              <a:gd name="T60" fmla="*/ 4887 w 5127"/>
              <a:gd name="T61" fmla="*/ 2340 h 5401"/>
              <a:gd name="T62" fmla="*/ 5007 w 5127"/>
              <a:gd name="T63" fmla="*/ 3838 h 5401"/>
              <a:gd name="T64" fmla="*/ 5127 w 5127"/>
              <a:gd name="T65" fmla="*/ 2340 h 5401"/>
              <a:gd name="T66" fmla="*/ 4568 w 5127"/>
              <a:gd name="T67" fmla="*/ 5139 h 5401"/>
              <a:gd name="T68" fmla="*/ 4448 w 5127"/>
              <a:gd name="T69" fmla="*/ 5281 h 5401"/>
              <a:gd name="T70" fmla="*/ 4688 w 5127"/>
              <a:gd name="T71" fmla="*/ 5281 h 5401"/>
              <a:gd name="T72" fmla="*/ 4568 w 5127"/>
              <a:gd name="T73" fmla="*/ 5139 h 5401"/>
              <a:gd name="T74" fmla="*/ 4448 w 5127"/>
              <a:gd name="T75" fmla="*/ 2559 h 5401"/>
              <a:gd name="T76" fmla="*/ 4568 w 5127"/>
              <a:gd name="T77" fmla="*/ 4974 h 5401"/>
              <a:gd name="T78" fmla="*/ 4688 w 5127"/>
              <a:gd name="T79" fmla="*/ 2559 h 540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5127" h="5401">
                <a:moveTo>
                  <a:pt x="3473" y="1608"/>
                </a:moveTo>
                <a:cubicBezTo>
                  <a:pt x="3473" y="1674"/>
                  <a:pt x="3419" y="1728"/>
                  <a:pt x="3353" y="1728"/>
                </a:cubicBezTo>
                <a:lnTo>
                  <a:pt x="2303" y="1728"/>
                </a:lnTo>
                <a:cubicBezTo>
                  <a:pt x="2236" y="1728"/>
                  <a:pt x="2183" y="1674"/>
                  <a:pt x="2183" y="1608"/>
                </a:cubicBezTo>
                <a:cubicBezTo>
                  <a:pt x="2183" y="1542"/>
                  <a:pt x="2236" y="1488"/>
                  <a:pt x="2303" y="1488"/>
                </a:cubicBezTo>
                <a:lnTo>
                  <a:pt x="3353" y="1488"/>
                </a:lnTo>
                <a:cubicBezTo>
                  <a:pt x="3419" y="1488"/>
                  <a:pt x="3473" y="1542"/>
                  <a:pt x="3473" y="1608"/>
                </a:cubicBezTo>
                <a:close/>
                <a:moveTo>
                  <a:pt x="3103" y="2231"/>
                </a:moveTo>
                <a:cubicBezTo>
                  <a:pt x="3170" y="2231"/>
                  <a:pt x="3223" y="2178"/>
                  <a:pt x="3223" y="2111"/>
                </a:cubicBezTo>
                <a:cubicBezTo>
                  <a:pt x="3223" y="2045"/>
                  <a:pt x="3170" y="1991"/>
                  <a:pt x="3103" y="1991"/>
                </a:cubicBezTo>
                <a:lnTo>
                  <a:pt x="2552" y="1991"/>
                </a:lnTo>
                <a:cubicBezTo>
                  <a:pt x="2486" y="1991"/>
                  <a:pt x="2432" y="2045"/>
                  <a:pt x="2432" y="2111"/>
                </a:cubicBezTo>
                <a:cubicBezTo>
                  <a:pt x="2432" y="2178"/>
                  <a:pt x="2486" y="2231"/>
                  <a:pt x="2552" y="2231"/>
                </a:cubicBezTo>
                <a:lnTo>
                  <a:pt x="3103" y="2231"/>
                </a:lnTo>
                <a:close/>
                <a:moveTo>
                  <a:pt x="3473" y="2768"/>
                </a:moveTo>
                <a:cubicBezTo>
                  <a:pt x="3473" y="2701"/>
                  <a:pt x="3419" y="2648"/>
                  <a:pt x="3353" y="2648"/>
                </a:cubicBezTo>
                <a:lnTo>
                  <a:pt x="2303" y="2648"/>
                </a:lnTo>
                <a:cubicBezTo>
                  <a:pt x="2236" y="2648"/>
                  <a:pt x="2183" y="2701"/>
                  <a:pt x="2183" y="2768"/>
                </a:cubicBezTo>
                <a:cubicBezTo>
                  <a:pt x="2183" y="2834"/>
                  <a:pt x="2236" y="2888"/>
                  <a:pt x="2303" y="2888"/>
                </a:cubicBezTo>
                <a:lnTo>
                  <a:pt x="3353" y="2888"/>
                </a:lnTo>
                <a:cubicBezTo>
                  <a:pt x="3419" y="2888"/>
                  <a:pt x="3473" y="2834"/>
                  <a:pt x="3473" y="2768"/>
                </a:cubicBezTo>
                <a:close/>
                <a:moveTo>
                  <a:pt x="2552" y="3151"/>
                </a:moveTo>
                <a:cubicBezTo>
                  <a:pt x="2486" y="3151"/>
                  <a:pt x="2432" y="3205"/>
                  <a:pt x="2432" y="3271"/>
                </a:cubicBezTo>
                <a:cubicBezTo>
                  <a:pt x="2432" y="3338"/>
                  <a:pt x="2486" y="3391"/>
                  <a:pt x="2552" y="3391"/>
                </a:cubicBezTo>
                <a:lnTo>
                  <a:pt x="3103" y="3391"/>
                </a:lnTo>
                <a:cubicBezTo>
                  <a:pt x="3170" y="3391"/>
                  <a:pt x="3223" y="3338"/>
                  <a:pt x="3223" y="3271"/>
                </a:cubicBezTo>
                <a:cubicBezTo>
                  <a:pt x="3223" y="3205"/>
                  <a:pt x="3170" y="3151"/>
                  <a:pt x="3103" y="3151"/>
                </a:cubicBezTo>
                <a:lnTo>
                  <a:pt x="2552" y="3151"/>
                </a:lnTo>
                <a:close/>
                <a:moveTo>
                  <a:pt x="4448" y="700"/>
                </a:moveTo>
                <a:lnTo>
                  <a:pt x="4448" y="1442"/>
                </a:lnTo>
                <a:cubicBezTo>
                  <a:pt x="4448" y="1509"/>
                  <a:pt x="4501" y="1562"/>
                  <a:pt x="4568" y="1562"/>
                </a:cubicBezTo>
                <a:cubicBezTo>
                  <a:pt x="4634" y="1562"/>
                  <a:pt x="4688" y="1509"/>
                  <a:pt x="4688" y="1442"/>
                </a:cubicBezTo>
                <a:lnTo>
                  <a:pt x="4688" y="700"/>
                </a:lnTo>
                <a:cubicBezTo>
                  <a:pt x="4688" y="314"/>
                  <a:pt x="4374" y="0"/>
                  <a:pt x="3988" y="0"/>
                </a:cubicBezTo>
                <a:lnTo>
                  <a:pt x="604" y="0"/>
                </a:lnTo>
                <a:cubicBezTo>
                  <a:pt x="271" y="0"/>
                  <a:pt x="0" y="271"/>
                  <a:pt x="0" y="604"/>
                </a:cubicBezTo>
                <a:lnTo>
                  <a:pt x="0" y="1672"/>
                </a:lnTo>
                <a:cubicBezTo>
                  <a:pt x="0" y="1738"/>
                  <a:pt x="53" y="1792"/>
                  <a:pt x="120" y="1792"/>
                </a:cubicBezTo>
                <a:lnTo>
                  <a:pt x="566" y="1792"/>
                </a:lnTo>
                <a:cubicBezTo>
                  <a:pt x="632" y="1792"/>
                  <a:pt x="686" y="1738"/>
                  <a:pt x="686" y="1672"/>
                </a:cubicBezTo>
                <a:cubicBezTo>
                  <a:pt x="686" y="1606"/>
                  <a:pt x="632" y="1552"/>
                  <a:pt x="566" y="1552"/>
                </a:cubicBezTo>
                <a:lnTo>
                  <a:pt x="240" y="1552"/>
                </a:lnTo>
                <a:lnTo>
                  <a:pt x="240" y="604"/>
                </a:lnTo>
                <a:cubicBezTo>
                  <a:pt x="240" y="403"/>
                  <a:pt x="403" y="240"/>
                  <a:pt x="604" y="240"/>
                </a:cubicBezTo>
                <a:cubicBezTo>
                  <a:pt x="805" y="240"/>
                  <a:pt x="968" y="403"/>
                  <a:pt x="968" y="604"/>
                </a:cubicBezTo>
                <a:lnTo>
                  <a:pt x="968" y="4179"/>
                </a:lnTo>
                <a:cubicBezTo>
                  <a:pt x="968" y="4565"/>
                  <a:pt x="1282" y="4879"/>
                  <a:pt x="1668" y="4879"/>
                </a:cubicBezTo>
                <a:lnTo>
                  <a:pt x="3904" y="4879"/>
                </a:lnTo>
                <a:cubicBezTo>
                  <a:pt x="3970" y="4879"/>
                  <a:pt x="4024" y="4825"/>
                  <a:pt x="4024" y="4759"/>
                </a:cubicBezTo>
                <a:cubicBezTo>
                  <a:pt x="4024" y="4693"/>
                  <a:pt x="3970" y="4639"/>
                  <a:pt x="3904" y="4639"/>
                </a:cubicBezTo>
                <a:lnTo>
                  <a:pt x="1668" y="4639"/>
                </a:lnTo>
                <a:cubicBezTo>
                  <a:pt x="1415" y="4639"/>
                  <a:pt x="1208" y="4433"/>
                  <a:pt x="1208" y="4179"/>
                </a:cubicBezTo>
                <a:lnTo>
                  <a:pt x="1208" y="604"/>
                </a:lnTo>
                <a:cubicBezTo>
                  <a:pt x="1208" y="468"/>
                  <a:pt x="1163" y="341"/>
                  <a:pt x="1086" y="240"/>
                </a:cubicBezTo>
                <a:lnTo>
                  <a:pt x="3988" y="240"/>
                </a:lnTo>
                <a:cubicBezTo>
                  <a:pt x="4241" y="240"/>
                  <a:pt x="4448" y="446"/>
                  <a:pt x="4448" y="700"/>
                </a:cubicBezTo>
                <a:close/>
                <a:moveTo>
                  <a:pt x="4787" y="2000"/>
                </a:moveTo>
                <a:lnTo>
                  <a:pt x="4568" y="2000"/>
                </a:lnTo>
                <a:cubicBezTo>
                  <a:pt x="4501" y="2000"/>
                  <a:pt x="4448" y="2054"/>
                  <a:pt x="4448" y="2120"/>
                </a:cubicBezTo>
                <a:cubicBezTo>
                  <a:pt x="4448" y="2187"/>
                  <a:pt x="4501" y="2240"/>
                  <a:pt x="4568" y="2240"/>
                </a:cubicBezTo>
                <a:lnTo>
                  <a:pt x="4787" y="2240"/>
                </a:lnTo>
                <a:cubicBezTo>
                  <a:pt x="4842" y="2240"/>
                  <a:pt x="4887" y="2285"/>
                  <a:pt x="4887" y="2340"/>
                </a:cubicBezTo>
                <a:lnTo>
                  <a:pt x="4887" y="3718"/>
                </a:lnTo>
                <a:cubicBezTo>
                  <a:pt x="4887" y="3785"/>
                  <a:pt x="4941" y="3838"/>
                  <a:pt x="5007" y="3838"/>
                </a:cubicBezTo>
                <a:cubicBezTo>
                  <a:pt x="5073" y="3838"/>
                  <a:pt x="5127" y="3785"/>
                  <a:pt x="5127" y="3718"/>
                </a:cubicBezTo>
                <a:lnTo>
                  <a:pt x="5127" y="2340"/>
                </a:lnTo>
                <a:cubicBezTo>
                  <a:pt x="5127" y="2153"/>
                  <a:pt x="4975" y="2000"/>
                  <a:pt x="4787" y="2000"/>
                </a:cubicBezTo>
                <a:close/>
                <a:moveTo>
                  <a:pt x="4568" y="5139"/>
                </a:moveTo>
                <a:cubicBezTo>
                  <a:pt x="4501" y="5139"/>
                  <a:pt x="4448" y="5193"/>
                  <a:pt x="4448" y="5259"/>
                </a:cubicBezTo>
                <a:lnTo>
                  <a:pt x="4448" y="5281"/>
                </a:lnTo>
                <a:cubicBezTo>
                  <a:pt x="4448" y="5347"/>
                  <a:pt x="4501" y="5401"/>
                  <a:pt x="4568" y="5401"/>
                </a:cubicBezTo>
                <a:cubicBezTo>
                  <a:pt x="4634" y="5401"/>
                  <a:pt x="4688" y="5347"/>
                  <a:pt x="4688" y="5281"/>
                </a:cubicBezTo>
                <a:lnTo>
                  <a:pt x="4688" y="5259"/>
                </a:lnTo>
                <a:cubicBezTo>
                  <a:pt x="4688" y="5193"/>
                  <a:pt x="4634" y="5139"/>
                  <a:pt x="4568" y="5139"/>
                </a:cubicBezTo>
                <a:close/>
                <a:moveTo>
                  <a:pt x="4568" y="2439"/>
                </a:moveTo>
                <a:cubicBezTo>
                  <a:pt x="4501" y="2439"/>
                  <a:pt x="4448" y="2492"/>
                  <a:pt x="4448" y="2559"/>
                </a:cubicBezTo>
                <a:lnTo>
                  <a:pt x="4448" y="4854"/>
                </a:lnTo>
                <a:cubicBezTo>
                  <a:pt x="4448" y="4920"/>
                  <a:pt x="4501" y="4974"/>
                  <a:pt x="4568" y="4974"/>
                </a:cubicBezTo>
                <a:cubicBezTo>
                  <a:pt x="4634" y="4974"/>
                  <a:pt x="4688" y="4920"/>
                  <a:pt x="4688" y="4854"/>
                </a:cubicBezTo>
                <a:lnTo>
                  <a:pt x="4688" y="2559"/>
                </a:lnTo>
                <a:cubicBezTo>
                  <a:pt x="4688" y="2492"/>
                  <a:pt x="4634" y="2439"/>
                  <a:pt x="4568" y="2439"/>
                </a:cubicBezTo>
                <a:close/>
              </a:path>
            </a:pathLst>
          </a:custGeom>
          <a:solidFill>
            <a:schemeClr val="bg2">
              <a:lumMod val="75000"/>
            </a:schemeClr>
          </a:solidFill>
          <a:ln>
            <a:noFill/>
          </a:ln>
        </p:spPr>
        <p:txBody>
          <a:bodyPr/>
          <a:lstStyle/>
          <a:p>
            <a:endParaRPr lang="zh-CN" altLang="en-US"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9" name="矩形 8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" name="任意多边形: 形状 9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2" name="图片 11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1638300" y="1956773"/>
            <a:ext cx="8902700" cy="1371600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1638300" y="3333878"/>
            <a:ext cx="8902700" cy="1516466"/>
          </a:xfrm>
        </p:spPr>
        <p:txBody>
          <a:bodyPr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add text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matchingName="Closing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-55690" y="0"/>
            <a:ext cx="12254040" cy="6858001"/>
            <a:chOff x="-55690" y="0"/>
            <a:chExt cx="12254040" cy="6858001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1270"/>
            <a:stretch>
              <a:fillRect/>
            </a:stretch>
          </p:blipFill>
          <p:spPr>
            <a:xfrm>
              <a:off x="0" y="3677921"/>
              <a:ext cx="12192000" cy="3180080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6350" y="0"/>
              <a:ext cx="12192000" cy="6858000"/>
            </a:xfrm>
            <a:prstGeom prst="rect">
              <a:avLst/>
            </a:prstGeom>
            <a:solidFill>
              <a:schemeClr val="bg1">
                <a:alpha val="3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lvl="0" algn="ctr"/>
              <a:endParaRPr lang="zh-CN" altLang="en-US"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8" name="任意多边形: 形状 7"/>
            <p:cNvSpPr/>
            <p:nvPr/>
          </p:nvSpPr>
          <p:spPr>
            <a:xfrm>
              <a:off x="3064123" y="895001"/>
              <a:ext cx="2975675" cy="1555595"/>
            </a:xfrm>
            <a:custGeom>
              <a:avLst/>
              <a:gdLst>
                <a:gd name="connsiteX0" fmla="*/ 263311 w 3278889"/>
                <a:gd name="connsiteY0" fmla="*/ 933095 h 1879959"/>
                <a:gd name="connsiteX1" fmla="*/ 1051102 w 3278889"/>
                <a:gd name="connsiteY1" fmla="*/ 4627 h 1879959"/>
                <a:gd name="connsiteX2" fmla="*/ 1656013 w 3278889"/>
                <a:gd name="connsiteY2" fmla="*/ 567335 h 1879959"/>
                <a:gd name="connsiteX3" fmla="*/ 2232788 w 3278889"/>
                <a:gd name="connsiteY3" fmla="*/ 384455 h 1879959"/>
                <a:gd name="connsiteX4" fmla="*/ 3104985 w 3278889"/>
                <a:gd name="connsiteY4" fmla="*/ 806485 h 1879959"/>
                <a:gd name="connsiteX5" fmla="*/ 2992444 w 3278889"/>
                <a:gd name="connsiteY5" fmla="*/ 1805291 h 1879959"/>
                <a:gd name="connsiteX6" fmla="*/ 221108 w 3278889"/>
                <a:gd name="connsiteY6" fmla="*/ 1706818 h 1879959"/>
                <a:gd name="connsiteX7" fmla="*/ 263311 w 3278889"/>
                <a:gd name="connsiteY7" fmla="*/ 933095 h 18799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278889" h="1879959">
                  <a:moveTo>
                    <a:pt x="263311" y="933095"/>
                  </a:moveTo>
                  <a:cubicBezTo>
                    <a:pt x="401643" y="649397"/>
                    <a:pt x="818985" y="65587"/>
                    <a:pt x="1051102" y="4627"/>
                  </a:cubicBezTo>
                  <a:cubicBezTo>
                    <a:pt x="1283219" y="-56333"/>
                    <a:pt x="1459065" y="504030"/>
                    <a:pt x="1656013" y="567335"/>
                  </a:cubicBezTo>
                  <a:cubicBezTo>
                    <a:pt x="1852961" y="630640"/>
                    <a:pt x="1991293" y="344597"/>
                    <a:pt x="2232788" y="384455"/>
                  </a:cubicBezTo>
                  <a:cubicBezTo>
                    <a:pt x="2474283" y="424313"/>
                    <a:pt x="2978376" y="569679"/>
                    <a:pt x="3104985" y="806485"/>
                  </a:cubicBezTo>
                  <a:cubicBezTo>
                    <a:pt x="3231594" y="1043291"/>
                    <a:pt x="3473090" y="1655236"/>
                    <a:pt x="2992444" y="1805291"/>
                  </a:cubicBezTo>
                  <a:cubicBezTo>
                    <a:pt x="2511798" y="1955347"/>
                    <a:pt x="671274" y="1856873"/>
                    <a:pt x="221108" y="1706818"/>
                  </a:cubicBezTo>
                  <a:cubicBezTo>
                    <a:pt x="-229058" y="1556763"/>
                    <a:pt x="124979" y="1216793"/>
                    <a:pt x="263311" y="933095"/>
                  </a:cubicBezTo>
                  <a:close/>
                </a:path>
              </a:pathLst>
            </a:custGeom>
            <a:gradFill>
              <a:gsLst>
                <a:gs pos="0">
                  <a:srgbClr val="6E8A8C"/>
                </a:gs>
                <a:gs pos="64000">
                  <a:srgbClr val="FFFFFF">
                    <a:alpha val="0"/>
                  </a:srgbClr>
                </a:gs>
                <a:gs pos="100000">
                  <a:schemeClr val="bg1">
                    <a:alpha val="10000"/>
                  </a:schemeClr>
                </a:gs>
              </a:gsLst>
              <a:lin ang="54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FZQingKeBenYueSongS-R-GB" panose="02000000000000000000" pitchFamily="2" charset="-122"/>
                <a:sym typeface="Arial" panose="020B0604020202020204" pitchFamily="34" charset="0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55690" y="3110675"/>
              <a:ext cx="3375770" cy="2926081"/>
            </a:xfrm>
            <a:prstGeom prst="rect">
              <a:avLst/>
            </a:prstGeom>
          </p:spPr>
        </p:pic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05584" y="775411"/>
              <a:ext cx="2100298" cy="2118160"/>
            </a:xfrm>
            <a:prstGeom prst="rect">
              <a:avLst/>
            </a:prstGeom>
          </p:spPr>
        </p:pic>
      </p:grp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3022600" y="2199840"/>
            <a:ext cx="6134100" cy="2118160"/>
          </a:xfrm>
        </p:spPr>
        <p:txBody>
          <a:bodyPr anchor="ctr">
            <a:noAutofit/>
          </a:bodyPr>
          <a:lstStyle>
            <a:lvl1pPr algn="ctr">
              <a:defRPr sz="4800"/>
            </a:lvl1pPr>
          </a:lstStyle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3" hasCustomPrompt="1"/>
          </p:nvPr>
        </p:nvSpPr>
        <p:spPr>
          <a:xfrm>
            <a:off x="7861300" y="5859780"/>
            <a:ext cx="3657600" cy="274320"/>
          </a:xfrm>
        </p:spPr>
        <p:txBody>
          <a:bodyPr anchor="ctr"/>
          <a:lstStyle>
            <a:lvl1pPr marL="0" indent="0" algn="r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Presenter name</a:t>
            </a:r>
            <a:endParaRPr 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4" hasCustomPrompt="1"/>
          </p:nvPr>
        </p:nvSpPr>
        <p:spPr>
          <a:xfrm>
            <a:off x="660400" y="5859780"/>
            <a:ext cx="3657600" cy="274320"/>
          </a:xfrm>
        </p:spPr>
        <p:txBody>
          <a:bodyPr anchor="ctr"/>
          <a:lstStyle>
            <a:lvl1pPr marL="0" indent="0">
              <a:buNone/>
              <a:defRPr sz="12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www.islide.cc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/>
            <a:r>
              <a:rPr lang="en-US"/>
              <a:t>Click to add title</a:t>
            </a:r>
            <a:endParaRPr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add text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8050" y="6409690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399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861300" y="6409690"/>
            <a:ext cx="36576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BB1146-E542-4D4E-B8E9-6919A11DDD48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tags" Target="../tags/tag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6900" y="1778000"/>
            <a:ext cx="8445500" cy="1833596"/>
          </a:xfrm>
        </p:spPr>
        <p:txBody>
          <a:bodyPr>
            <a:normAutofit/>
          </a:bodyPr>
          <a:lstStyle/>
          <a:p>
            <a:pPr lvl="0"/>
            <a:r>
              <a:rPr lang="zh-CN" altLang="en-US" sz="4000" dirty="0"/>
              <a:t>中国哲学（上）</a:t>
            </a:r>
            <a:endParaRPr lang="zh-CN" altLang="en-US" sz="4000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61300" y="5153025"/>
            <a:ext cx="2797175" cy="981075"/>
          </a:xfrm>
        </p:spPr>
        <p:txBody>
          <a:bodyPr>
            <a:normAutofit/>
          </a:bodyPr>
          <a:lstStyle/>
          <a:p>
            <a:pPr lvl="0"/>
            <a:r>
              <a:rPr lang="zh-CN" altLang="en-US" sz="2000" dirty="0" smtClean="0"/>
              <a:t>孟庆楠、白辉洪</a:t>
            </a:r>
            <a:endParaRPr lang="zh-CN" altLang="en-US" sz="2000" dirty="0" smtClean="0"/>
          </a:p>
          <a:p>
            <a:pPr lvl="0"/>
            <a:r>
              <a:rPr lang="en-US" sz="2000" dirty="0"/>
              <a:t>2026-27-1</a:t>
            </a:r>
            <a:endParaRPr lang="en-US" sz="2000" dirty="0"/>
          </a:p>
        </p:txBody>
      </p: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6900" y="1778000"/>
            <a:ext cx="8445500" cy="1833596"/>
          </a:xfrm>
        </p:spPr>
        <p:txBody>
          <a:bodyPr>
            <a:normAutofit/>
          </a:bodyPr>
          <a:lstStyle/>
          <a:p>
            <a:pPr lvl="0"/>
            <a:r>
              <a:rPr lang="zh-CN" altLang="en-US" sz="4000" dirty="0"/>
              <a:t>第五讲</a:t>
            </a:r>
            <a:r>
              <a:rPr lang="en-US" altLang="zh-CN" sz="4000" dirty="0"/>
              <a:t>  </a:t>
            </a:r>
            <a:r>
              <a:rPr lang="zh-CN" altLang="en-US" sz="4000" dirty="0"/>
              <a:t>孟子</a:t>
            </a:r>
            <a:endParaRPr lang="zh-CN" altLang="en-US" sz="4000" dirty="0"/>
          </a:p>
        </p:txBody>
      </p:sp>
    </p:spTree>
    <p:custDataLst>
      <p:tags r:id="rId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孟子其人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孟轲，驺人也。受业子思之门人。道既通，游事齐宣王，宣王不能用。適梁，梁惠王不果所言，则见以为迂远而阔于事情。当是之时，秦用商君，富国彊兵；楚、魏用吴起，战胜弱敌；齐威王、宣王用孙子、田忌之徒，而诸侯东面朝齐。天下方务於合从连衡，以攻伐为贤，而孟轲乃述唐、虞、三代之德，是以所如者不合。退而与万章之徒序《诗》《书》，述仲尼之意，作《孟子》七篇。（《史记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·孟子荀卿列传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一、孔孟之间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一、孔孟之间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儒家后学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自孔子卒后，七十子之徒散游诸侯，大者为师傅卿相，小者友教士大夫，或隐而不见。故子路居卫，子张居陈，澹台子羽居楚，子夏居西河，子贡终於齐。如田子方、段干木、吴起、禽滑釐之属，皆受业于子夏之伦，为王者师。是时独魏文侯好学。后陵迟以至于始皇，天下并争於战国，儒术既绌焉，然齐鲁之间，学者独不废也。于威、宣之际，孟子、荀卿之列，咸遵夫子之业而润色之，以学显於当世。（《史记·儒林列传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一、孔孟之间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儒家的分化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世之显学，儒、墨也。儒之所至，孔丘也。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自孔子之死也，有子张之儒，有子思之儒，有颜氏之儒，有孟氏之儒，有漆雕氏之儒，有仲良氏之儒，有孙氏之儒，有乐正氏之儒。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故孔、墨之后，儒分为八，墨离为三，取舍相反不同，而皆自谓真孔、墨，孔、墨不可复生，将谁使定后世之学乎？（《韩非子·显学》）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一、孔孟之间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儒家与其他学派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公都子曰：“外人皆称夫子好辩，敢问何也？”孟子曰：“予岂好辩哉？予不得已也。天下之生久矣，一治一乱。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圣王不作，诸侯放恣，处士横议，杨朱、墨翟之言盈天下。天下之言不归杨，则归墨。杨氏为我，是无君也；墨氏兼爱，是无父也。无父无君，是禽兽也。公明仪曰：‘庖有肥肉，厩有肥马；民有饥色，野有饿莩，此率兽而食人也。’杨墨之道不息，孔子之道不著，是邪说诬民，充塞仁义也。仁义充塞，则率兽食人，人将相食。吾为此惧，闲先圣之道，距杨墨，放淫辞，邪说者不得作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无父无君，是周公所膺也。我亦欲正人心，息邪说，距诐行，放淫辞，以承三圣者，岂好辩哉？予不得已也。能言距杨墨者，圣人之徒也。”（《孟子·滕文公下》）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二、性善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礼与心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孟子曰：“知者无不知也，当务之为急；仁者无不爱也，急亲贤之为务。尧、舜之知而不徧物，急先务也；尧、舜之仁不遍爱人，急亲贤也。不能三年之丧，而緦、小功之察；放饭流歠，而问无齿决，是之谓不知务。”（《孟子·尽心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何谓性？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en-US" altLang="zh-CN" dirty="0"/>
                <a:t> </a:t>
              </a:r>
              <a:endParaRPr lang="en-US" altLang="zh-CN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天生所具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告子曰：“生之谓性。”（《孟子·告子上》）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何谓性？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人禽之辨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孟子曰：“生之谓性也，犹白之谓白与？”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曰：“然。”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“白羽之白也，犹白雪之白；白雪之白，犹白玉之白欤？”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曰：“然。”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“然则犬之性犹牛之性，牛之性犹人之性欤？”（《孟子·告子上》）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人之所以异于禽兽者，几希。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（《孟子·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离娄下》）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何谓性？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性命之辨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孟子曰：“口之于味也，目之于色也，耳之于声也，鼻之于臭也，四肢之于安佚也，性也，有命焉，君子不谓性也。仁之于父子也，义之于君臣也，礼之于宾主也，智之于贤者也，圣人之于天道也，命也，有性焉，君子不谓命也。</a:t>
              </a:r>
              <a:r>
                <a:rPr lang="zh-CN" altLang="en-US" dirty="0" smtClean="0">
                  <a:solidFill>
                    <a:schemeClr val="bg1"/>
                  </a:solidFill>
                  <a:sym typeface="+mn-ea"/>
                </a:rPr>
                <a:t>”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（《孟子·尽心下》）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何谓性？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四端之心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孟子曰：“人皆有不忍人之心。</a:t>
              </a:r>
              <a:r>
                <a:rPr lang="en-US" altLang="zh-CN" dirty="0">
                  <a:solidFill>
                    <a:schemeClr val="bg1"/>
                  </a:solidFill>
                  <a:sym typeface="+mn-ea"/>
                </a:rPr>
                <a:t>……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所以谓人皆有不忍人之心者，今人乍见孺子将入於井，皆有怵惕恻隐之心，非所以内交於孺子之父母也，非所以要誉於乡党朋友也，非恶其声而然也。由是观之，无恻隐之心，非人也；无羞恶之心，非人也；无辞让之心，非人也；无是非之心，非人也。恻隐之心，仁之端也；羞恶之心，义之端也；辞让之心，礼之端也；是非之心，智之端也。人之有是四端也，犹其有四体也。有是四端而自谓不能者，自贼者也；谓其君不能者，贼其君者也。”（《孟子·尽心下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何谓性？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良能良知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人之所不学而能者，其良能也；所不虑而知者，其良知也。孩提之童，无不知爱其亲者，及其长也，无不知敬其兄也。亲亲，仁也；敬长，义也。无他，达之天下也。（《孟子·尽心上》）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何谓性？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人所同然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孟子曰：“……故凡同类者，举相似也，何独至于人而疑之？圣人与我同类者。……故曰：口之于味也，有同耆焉；耳之于声也，有同听焉；目之于色也，有同美焉。至于心，独无所同然乎？心之所同然者何也？谓理也，义也。圣人先得我心之所同然耳。故理义之悦我心，犹刍豢之悦我口。”（《孟子·告子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人性善恶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>
                  <a:sym typeface="+mn-ea"/>
                </a:rPr>
                <a:t>性的含义</a:t>
              </a:r>
              <a:endParaRPr lang="en-US" altLang="zh-CN" dirty="0" smtClean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>
                  <a:sym typeface="+mn-ea"/>
                </a:rPr>
                <a:t>善恶的含义及其所指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告子：性无善无不善</a:t>
              </a:r>
              <a:endParaRPr lang="zh-CN" altLang="en-US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或者：性可以为善可以为不善</a:t>
              </a:r>
              <a:endParaRPr lang="zh-CN" altLang="en-US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或者：性有善有不善</a:t>
              </a:r>
              <a:endParaRPr lang="zh-CN" altLang="en-US" dirty="0">
                <a:solidFill>
                  <a:schemeClr val="bg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孟子：性善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人性善恶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>
                  <a:sym typeface="+mn-ea"/>
                </a:rPr>
                <a:t>性的含义</a:t>
              </a:r>
              <a:endParaRPr lang="en-US" altLang="zh-CN" dirty="0" smtClean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>
                  <a:sym typeface="+mn-ea"/>
                </a:rPr>
                <a:t>善恶的含义及其所指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告子曰：“性犹湍水也，决诸东方则东流，决诸西方则西流。人性之无分于善不善也，犹水之无分于东西也。”孟子曰：“水信无分于东西，无分于上下乎？人性之善也，犹水之就下也。人无有不善，水无有不下。今夫水，搏而跃之，可使过颡；激而行之，可使在山。是岂水之性哉？其势则然也。人之可使为不善，其性亦犹是也。”（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《孟子·告子上》）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人性善恶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>
                  <a:sym typeface="+mn-ea"/>
                </a:rPr>
                <a:t>性的含义</a:t>
              </a:r>
              <a:endParaRPr lang="en-US" altLang="zh-CN" dirty="0" smtClean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>
                  <a:sym typeface="+mn-ea"/>
                </a:rPr>
                <a:t>善恶的含义及其所指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公都子曰：“告子曰：‘性无善无不善也。’或曰：‘性可以为善，可以为不善。是故文、武兴则民好善，幽、厉兴则民好暴。’或曰：‘有性善，有性不善。是故以尧为君而有象，以瞽瞍为父而有舜，以纣为兄之子且以为君而有微子启、王子比干。’今曰‘性善’，然则彼皆非欤？”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（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《孟子·告子上》）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二、性善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/>
                <a:t>人性善恶</a:t>
              </a: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>
                  <a:sym typeface="+mn-ea"/>
                </a:rPr>
                <a:t>性的含义</a:t>
              </a:r>
              <a:endParaRPr lang="en-US" altLang="zh-CN" dirty="0" smtClean="0"/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 smtClean="0">
                  <a:sym typeface="+mn-ea"/>
                </a:rPr>
                <a:t>善恶的含义及其所指</a:t>
              </a:r>
              <a:endParaRPr lang="zh-CN" altLang="en-US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孟子曰：“乃若其情，则可以为善矣，乃所谓善也。若夫为不善，非才之罪也。恻隐之心，人皆有之；羞恶之心，人皆有之；恭敬之心，人皆有之；是非之心，人皆有之。恻隐之心，仁也；羞恶之心，义也；恭敬之心，礼也；是非之心，智也。仁义礼智，非由外铄我也，我固有之也，弗思耳矣。故曰：‘求则得之，舍则失之。’或相倍蓰而无算者，不能尽其才者也。”（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《孟子·告子上》）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三、心的修养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三、心的修养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扩充四端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凡有四端于我者，知皆扩而充之矣，若火之始然，泉之始达。苟能充之，足以保四海；苟不充之，不足以事父母。（《孟子·公孙丑上》）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故推恩足以保四海，不推恩无以保妻子。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（《孟子·梁惠王上》）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endParaRPr lang="zh-CN" altLang="en-US" dirty="0">
                <a:solidFill>
                  <a:schemeClr val="bg1"/>
                </a:solidFill>
                <a:sym typeface="+mn-ea"/>
              </a:endParaRPr>
            </a:p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老吾老，以及人之老；幼吾幼，以及人之幼。</a:t>
              </a: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（《孟子·梁惠王上》）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三、心的修养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养心寡欲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孟子曰：“养心莫善于寡欲。其为人也寡欲，虽有不存焉者，寡矣；其为人也多欲，虽有存焉者，寡矣。”（《孟子·尽心下》）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三、心的修养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心之思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公都子问曰：“钧是人也，或为大人，或为小人，何也？”孟子曰：“从其大体为大人，从其小体为小人。”曰：“钧是人也，或从其大体，或从其小体，何也？”曰：“耳目之官不思，而蔽於物。物交物，则引之而已矣。心之官则思，思则得之，不思则不得也。此天之所与我者。先立乎其大者，则其小者不能夺也。此为大人而已矣。”（《孟子·告子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8300" y="1956773"/>
            <a:ext cx="8902700" cy="1371600"/>
          </a:xfrm>
        </p:spPr>
        <p:txBody>
          <a:bodyPr>
            <a:normAutofit/>
          </a:bodyPr>
          <a:lstStyle/>
          <a:p>
            <a:pPr lvl="0"/>
            <a:r>
              <a:rPr lang="zh-CN" altLang="en-US" sz="3200" dirty="0" smtClean="0"/>
              <a:t>四、仁政</a:t>
            </a:r>
            <a:endParaRPr lang="en-US" sz="3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61300" y="6409690"/>
            <a:ext cx="3657600" cy="274320"/>
          </a:xfrm>
        </p:spPr>
        <p:txBody>
          <a:bodyPr/>
          <a:lstStyle/>
          <a:p>
            <a:fld id="{C8BB1146-E542-4D4E-B8E9-6919A11DDD48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四、仁政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仁心与仁政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人皆有不忍人之心。先王有不忍人之心，斯有不忍人之政矣。以不忍人之心，行不忍人之政，治天下可运之掌上。（《孟子·公孙丑上》）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四、仁政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制民之产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无恒产而有恒心者，惟士为能。若民，则无恒产，因无恒心。苟无恒心，放辟邪侈，无不为已。及陷于罪，然后从而刑之，是罔民也。焉有仁人在位罔民而可为也？是故明君制民之产，必使仰足以事父母，俯足以畜妻子，乐岁终身饱，凶年免于死亡。然后驱而之善，故民之从之也轻。今也制民之产，仰不足以事父母，俯不足以畜妻子；乐岁终身苦，凶年不免于死亡。此惟救死而恐不赡，奚暇治礼义哉？王欲行之，则盍反其本矣！五亩之宅，树之以桑，五十者可以衣帛矣。鸡豚狗彘之畜，无失其时，七十者可以食肉矣。百亩之田，勿夺其时，八口之家可以无饥矣。谨庠序之教，申之以孝悌之义，颁白者不负戴于道路矣。老者衣帛食肉，黎民不饥不寒，然而不王者，未之有也。（《孟子·梁惠王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/>
              <a:t>四、仁政</a:t>
            </a:r>
            <a:endParaRPr lang="zh-CN" altLang="en-US" sz="24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7" name="TextBox 6"/>
          <p:cNvSpPr txBox="1"/>
          <p:nvPr/>
        </p:nvSpPr>
        <p:spPr>
          <a:xfrm>
            <a:off x="19840575" y="1181100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028828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9840575" y="1550432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2028828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9840575" y="191976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2028828" y="1550431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2105028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2" name="TextBox 21"/>
          <p:cNvSpPr txBox="1"/>
          <p:nvPr/>
        </p:nvSpPr>
        <p:spPr>
          <a:xfrm>
            <a:off x="19916775" y="2447924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19916775" y="2817255"/>
            <a:ext cx="81438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grpSp>
        <p:nvGrpSpPr>
          <p:cNvPr id="5" name="4318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660402" y="1304925"/>
            <a:ext cx="10858499" cy="5104765"/>
            <a:chOff x="673102" y="1123951"/>
            <a:chExt cx="11159243" cy="5734051"/>
          </a:xfrm>
        </p:grpSpPr>
        <p:sp>
          <p:nvSpPr>
            <p:cNvPr id="59" name="îṧļîďè"/>
            <p:cNvSpPr/>
            <p:nvPr/>
          </p:nvSpPr>
          <p:spPr>
            <a:xfrm>
              <a:off x="3375317" y="1123951"/>
              <a:ext cx="8457028" cy="57340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anchor="ctr">
              <a:normAutofit/>
            </a:bodyPr>
            <a:lstStyle/>
            <a:p>
              <a:pPr algn="ctr"/>
              <a:endParaRPr dirty="0"/>
            </a:p>
          </p:txBody>
        </p:sp>
        <p:sp>
          <p:nvSpPr>
            <p:cNvPr id="69" name="iŝlîde"/>
            <p:cNvSpPr txBox="1"/>
            <p:nvPr/>
          </p:nvSpPr>
          <p:spPr>
            <a:xfrm>
              <a:off x="673102" y="1123952"/>
              <a:ext cx="2702215" cy="57340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91440" tIns="45720" rIns="91440" bIns="45720" anchor="ctr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dirty="0"/>
                <a:t>人伦教化</a:t>
              </a:r>
              <a:endParaRPr lang="zh-CN" dirty="0"/>
            </a:p>
          </p:txBody>
        </p:sp>
        <p:sp>
          <p:nvSpPr>
            <p:cNvPr id="68" name="iSļide"/>
            <p:cNvSpPr txBox="1"/>
            <p:nvPr/>
          </p:nvSpPr>
          <p:spPr>
            <a:xfrm flipH="1">
              <a:off x="3651968" y="1322504"/>
              <a:ext cx="7885295" cy="5299599"/>
            </a:xfrm>
            <a:prstGeom prst="rect">
              <a:avLst/>
            </a:prstGeom>
            <a:noFill/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defTabSz="913765">
                <a:lnSpc>
                  <a:spcPct val="150000"/>
                </a:lnSpc>
                <a:buSzPct val="25000"/>
                <a:defRPr/>
              </a:pPr>
              <a:r>
                <a:rPr lang="zh-CN" altLang="en-US" dirty="0">
                  <a:solidFill>
                    <a:schemeClr val="bg1"/>
                  </a:solidFill>
                  <a:sym typeface="+mn-ea"/>
                </a:rPr>
                <a:t>人之有道也，饱食、暖衣、逸居而无教，则近于禽兽。圣人有忧之，使契为司徒，教以人伦：父子有亲，君臣有义，夫妇有别，长幼有叙，朋友有信。（《孟子·滕文公上》）</a:t>
              </a:r>
              <a:endParaRPr lang="zh-CN" altLang="en-US" dirty="0">
                <a:solidFill>
                  <a:schemeClr val="bg1"/>
                </a:solidFill>
                <a:sym typeface="+mn-ea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LIDE.THEME" val="https://www.islide.cc;"/>
</p:tagLst>
</file>

<file path=ppt/tags/tag2.xml><?xml version="1.0" encoding="utf-8"?>
<p:tagLst xmlns:p="http://schemas.openxmlformats.org/presentationml/2006/main">
  <p:tag name="ISLIDE.THEME" val="https://www.islide.cc;"/>
</p:tagLst>
</file>

<file path=ppt/tags/tag3.xml><?xml version="1.0" encoding="utf-8"?>
<p:tagLst xmlns:p="http://schemas.openxmlformats.org/presentationml/2006/main">
  <p:tag name="ISLIDE.DIAGRAM" val="4318"/>
</p:tagLst>
</file>

<file path=ppt/tags/tag4.xml><?xml version="1.0" encoding="utf-8"?>
<p:tagLst xmlns:p="http://schemas.openxmlformats.org/presentationml/2006/main">
  <p:tag name="ISLIDE.THEME" val="https://www.islide.cc;"/>
</p:tagLst>
</file>

<file path=ppt/tags/tag5.xml><?xml version="1.0" encoding="utf-8"?>
<p:tagLst xmlns:p="http://schemas.openxmlformats.org/presentationml/2006/main">
  <p:tag name="ISLIDE.DIAGRAM" val="4318"/>
</p:tagLst>
</file>

<file path=ppt/tags/tag6.xml><?xml version="1.0" encoding="utf-8"?>
<p:tagLst xmlns:p="http://schemas.openxmlformats.org/presentationml/2006/main">
  <p:tag name="ISLIDE.DIAGRAM" val="4318"/>
</p:tagLst>
</file>

<file path=ppt/tags/tag7.xml><?xml version="1.0" encoding="utf-8"?>
<p:tagLst xmlns:p="http://schemas.openxmlformats.org/presentationml/2006/main">
  <p:tag name="ISLIDE.DIAGRAM" val="4318"/>
</p:tagLst>
</file>

<file path=ppt/tags/tag8.xml><?xml version="1.0" encoding="utf-8"?>
<p:tagLst xmlns:p="http://schemas.openxmlformats.org/presentationml/2006/main">
  <p:tag name="ISLIDE.THEME" val="https://www.islide.cc;"/>
</p:tagLst>
</file>

<file path=ppt/tags/tag9.xml><?xml version="1.0" encoding="utf-8"?>
<p:tagLst xmlns:p="http://schemas.openxmlformats.org/presentationml/2006/main">
  <p:tag name="ISLIDE.DIAGRAM" val="4318"/>
</p:tagLst>
</file>

<file path=ppt/tags/tag10.xml><?xml version="1.0" encoding="utf-8"?>
<p:tagLst xmlns:p="http://schemas.openxmlformats.org/presentationml/2006/main">
  <p:tag name="ISLIDE.DIAGRAM" val="4318"/>
</p:tagLst>
</file>

<file path=ppt/tags/tag11.xml><?xml version="1.0" encoding="utf-8"?>
<p:tagLst xmlns:p="http://schemas.openxmlformats.org/presentationml/2006/main">
  <p:tag name="ISLIDE.DIAGRAM" val="4318"/>
</p:tagLst>
</file>

<file path=ppt/tags/tag12.xml><?xml version="1.0" encoding="utf-8"?>
<p:tagLst xmlns:p="http://schemas.openxmlformats.org/presentationml/2006/main">
  <p:tag name="ISLIDE.DIAGRAM" val="4318"/>
</p:tagLst>
</file>

<file path=ppt/tags/tag13.xml><?xml version="1.0" encoding="utf-8"?>
<p:tagLst xmlns:p="http://schemas.openxmlformats.org/presentationml/2006/main">
  <p:tag name="ISLIDE.DIAGRAM" val="4318"/>
</p:tagLst>
</file>

<file path=ppt/tags/tag14.xml><?xml version="1.0" encoding="utf-8"?>
<p:tagLst xmlns:p="http://schemas.openxmlformats.org/presentationml/2006/main">
  <p:tag name="ISLIDE.DIAGRAM" val="4318"/>
</p:tagLst>
</file>

<file path=ppt/tags/tag15.xml><?xml version="1.0" encoding="utf-8"?>
<p:tagLst xmlns:p="http://schemas.openxmlformats.org/presentationml/2006/main">
  <p:tag name="ISLIDE.DIAGRAM" val="4318"/>
</p:tagLst>
</file>

<file path=ppt/tags/tag16.xml><?xml version="1.0" encoding="utf-8"?>
<p:tagLst xmlns:p="http://schemas.openxmlformats.org/presentationml/2006/main">
  <p:tag name="ISLIDE.DIAGRAM" val="4318"/>
</p:tagLst>
</file>

<file path=ppt/tags/tag17.xml><?xml version="1.0" encoding="utf-8"?>
<p:tagLst xmlns:p="http://schemas.openxmlformats.org/presentationml/2006/main">
  <p:tag name="ISLIDE.DIAGRAM" val="4318"/>
</p:tagLst>
</file>

<file path=ppt/tags/tag18.xml><?xml version="1.0" encoding="utf-8"?>
<p:tagLst xmlns:p="http://schemas.openxmlformats.org/presentationml/2006/main">
  <p:tag name="ISLIDE.DIAGRAM" val="4318"/>
</p:tagLst>
</file>

<file path=ppt/tags/tag19.xml><?xml version="1.0" encoding="utf-8"?>
<p:tagLst xmlns:p="http://schemas.openxmlformats.org/presentationml/2006/main">
  <p:tag name="ISLIDE.DIAGRAM" val="4318"/>
</p:tagLst>
</file>

<file path=ppt/tags/tag20.xml><?xml version="1.0" encoding="utf-8"?>
<p:tagLst xmlns:p="http://schemas.openxmlformats.org/presentationml/2006/main">
  <p:tag name="ISLIDE.THEME" val="https://www.islide.cc;"/>
</p:tagLst>
</file>

<file path=ppt/tags/tag21.xml><?xml version="1.0" encoding="utf-8"?>
<p:tagLst xmlns:p="http://schemas.openxmlformats.org/presentationml/2006/main">
  <p:tag name="ISLIDE.DIAGRAM" val="4318"/>
</p:tagLst>
</file>

<file path=ppt/tags/tag22.xml><?xml version="1.0" encoding="utf-8"?>
<p:tagLst xmlns:p="http://schemas.openxmlformats.org/presentationml/2006/main">
  <p:tag name="ISLIDE.DIAGRAM" val="4318"/>
</p:tagLst>
</file>

<file path=ppt/tags/tag23.xml><?xml version="1.0" encoding="utf-8"?>
<p:tagLst xmlns:p="http://schemas.openxmlformats.org/presentationml/2006/main">
  <p:tag name="ISLIDE.DIAGRAM" val="4318"/>
</p:tagLst>
</file>

<file path=ppt/tags/tag24.xml><?xml version="1.0" encoding="utf-8"?>
<p:tagLst xmlns:p="http://schemas.openxmlformats.org/presentationml/2006/main">
  <p:tag name="ISLIDE.THEME" val="https://www.islide.cc;"/>
</p:tagLst>
</file>

<file path=ppt/tags/tag25.xml><?xml version="1.0" encoding="utf-8"?>
<p:tagLst xmlns:p="http://schemas.openxmlformats.org/presentationml/2006/main">
  <p:tag name="ISLIDE.DIAGRAM" val="4318"/>
</p:tagLst>
</file>

<file path=ppt/tags/tag26.xml><?xml version="1.0" encoding="utf-8"?>
<p:tagLst xmlns:p="http://schemas.openxmlformats.org/presentationml/2006/main">
  <p:tag name="ISLIDE.DIAGRAM" val="4318"/>
</p:tagLst>
</file>

<file path=ppt/tags/tag27.xml><?xml version="1.0" encoding="utf-8"?>
<p:tagLst xmlns:p="http://schemas.openxmlformats.org/presentationml/2006/main">
  <p:tag name="ISLIDE.DIAGRAM" val="4318"/>
</p:tagLst>
</file>

<file path=ppt/tags/tag28.xml><?xml version="1.0" encoding="utf-8"?>
<p:tagLst xmlns:p="http://schemas.openxmlformats.org/presentationml/2006/main">
  <p:tag name="ISLIDE.GUIDESSETTING" val="{&quot;Id&quot;:&quot;GuidesStyle_Normal&quot;,&quot;Name&quot;:&quot;GuidesStyle_Normal&quot;,&quot;Kind&quot;:0,&quot;OldGuidesSetting&quot;:{&quot;HeaderHeight&quot;:15.0,&quot;FooterHeight&quot;:9.0,&quot;SideMargin&quot;:5.5,&quot;TopMargin&quot;:0.0,&quot;BottomMargin&quot;:0.0,&quot;IntervalMargin&quot;:1.5}}"/>
  <p:tag name="ISLIDE.THEME" val="#935486"/>
  <p:tag name="commondata" val="eyJoZGlkIjoiYjU4MmJkNDBiNTI5Njk5MzUyMmUzNDc3ZmZjYzczM2MifQ=="/>
</p:tagLst>
</file>

<file path=ppt/theme/theme1.xml><?xml version="1.0" encoding="utf-8"?>
<a:theme xmlns:a="http://schemas.openxmlformats.org/drawingml/2006/main" name="Designed by iSlide">
  <a:themeElements>
    <a:clrScheme name="iSlide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5D99A7"/>
      </a:accent1>
      <a:accent2>
        <a:srgbClr val="E5B952"/>
      </a:accent2>
      <a:accent3>
        <a:srgbClr val="C6CBCC"/>
      </a:accent3>
      <a:accent4>
        <a:srgbClr val="ADB0B1"/>
      </a:accent4>
      <a:accent5>
        <a:srgbClr val="8E9090"/>
      </a:accent5>
      <a:accent6>
        <a:srgbClr val="787B7B"/>
      </a:accent6>
      <a:hlink>
        <a:srgbClr val="F84D4D"/>
      </a:hlink>
      <a:folHlink>
        <a:srgbClr val="979797"/>
      </a:folHlink>
    </a:clrScheme>
    <a:fontScheme name="iSlide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iSlid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iSlide Presentation Template</Template>
  <TotalTime>0</TotalTime>
  <Words>3226</Words>
  <Application>WPS 演示</Application>
  <PresentationFormat>宽屏</PresentationFormat>
  <Paragraphs>228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FZQingKeBenYueSongS-R-GB</vt:lpstr>
      <vt:lpstr>Arial Unicode MS</vt:lpstr>
      <vt:lpstr>等线</vt:lpstr>
      <vt:lpstr>华文新魏</vt:lpstr>
      <vt:lpstr>Designed by iSlide</vt:lpstr>
      <vt:lpstr>中国哲学（上）</vt:lpstr>
      <vt:lpstr>第五讲  孟子</vt:lpstr>
      <vt:lpstr>PowerPoint 演示文稿</vt:lpstr>
      <vt:lpstr>一、孔孟之间</vt:lpstr>
      <vt:lpstr>一、孔孟之间</vt:lpstr>
      <vt:lpstr>一、孔孟之间</vt:lpstr>
      <vt:lpstr>一、孔孟之间</vt:lpstr>
      <vt:lpstr>二、性善</vt:lpstr>
      <vt:lpstr>二、性善</vt:lpstr>
      <vt:lpstr>二、性善</vt:lpstr>
      <vt:lpstr>二、性善</vt:lpstr>
      <vt:lpstr>二、性善</vt:lpstr>
      <vt:lpstr>二、性善</vt:lpstr>
      <vt:lpstr>二、性善</vt:lpstr>
      <vt:lpstr>二、性善</vt:lpstr>
      <vt:lpstr>二、性善</vt:lpstr>
      <vt:lpstr>二、性善</vt:lpstr>
      <vt:lpstr>二、性善</vt:lpstr>
      <vt:lpstr>二、性善</vt:lpstr>
      <vt:lpstr>三、交相非与尚同</vt:lpstr>
      <vt:lpstr>三、交相非与尚同</vt:lpstr>
      <vt:lpstr>三、心的修养</vt:lpstr>
      <vt:lpstr>三、心的修养</vt:lpstr>
      <vt:lpstr>四、对儒家的批评</vt:lpstr>
      <vt:lpstr>四、对儒家的批评</vt:lpstr>
      <vt:lpstr>四、仁政</vt:lpstr>
      <vt:lpstr>四、仁政</vt:lpstr>
    </vt:vector>
  </TitlesOfParts>
  <Company>iSlide</Company>
  <LinksUpToDate>false</LinksUpToDate>
  <SharedDoc>false</SharedDoc>
  <HyperlinksChanged>false</HyperlinksChanged>
  <AppVersion>14.0000</AppVersion>
  <Manager>iSlide</Manager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儒家仁爱观念在伦理结构中的展开</dc:title>
  <dc:creator>iSlide</dc:creator>
  <cp:lastModifiedBy>孟庆楠</cp:lastModifiedBy>
  <cp:revision>77</cp:revision>
  <cp:lastPrinted>2024-01-17T16:00:00Z</cp:lastPrinted>
  <dcterms:created xsi:type="dcterms:W3CDTF">2024-01-17T16:00:00Z</dcterms:created>
  <dcterms:modified xsi:type="dcterms:W3CDTF">2026-10-12T00:55:03Z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4a1fdab6-13b4-4b78-bf6e-8435c7fb9ed9</vt:lpwstr>
  </property>
  <property fmtid="{D5CDD505-2E9C-101B-9397-08002B2CF9AE}" pid="3" name="ICV">
    <vt:lpwstr>CDFA8BF229E34B2BBBEC3640D506D0A0_13</vt:lpwstr>
  </property>
  <property fmtid="{D5CDD505-2E9C-101B-9397-08002B2CF9AE}" pid="4" name="KSOProductBuildVer">
    <vt:lpwstr>2052-12.1.0.28505</vt:lpwstr>
  </property>
</Properties>
</file>