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3"/>
    <p:sldId id="468" r:id="rId4"/>
    <p:sldId id="471" r:id="rId5"/>
    <p:sldId id="439" r:id="rId6"/>
    <p:sldId id="470" r:id="rId7"/>
    <p:sldId id="472" r:id="rId8"/>
    <p:sldId id="414" r:id="rId9"/>
    <p:sldId id="473" r:id="rId10"/>
    <p:sldId id="474" r:id="rId11"/>
    <p:sldId id="476" r:id="rId12"/>
    <p:sldId id="475" r:id="rId13"/>
    <p:sldId id="445" r:id="rId14"/>
    <p:sldId id="477" r:id="rId15"/>
    <p:sldId id="478" r:id="rId16"/>
    <p:sldId id="479" r:id="rId17"/>
    <p:sldId id="480" r:id="rId18"/>
    <p:sldId id="451" r:id="rId19"/>
    <p:sldId id="484" r:id="rId20"/>
    <p:sldId id="485" r:id="rId21"/>
    <p:sldId id="483" r:id="rId22"/>
    <p:sldId id="486" r:id="rId23"/>
    <p:sldId id="487" r:id="rId24"/>
    <p:sldId id="488" r:id="rId25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44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483" autoAdjust="0"/>
  </p:normalViewPr>
  <p:slideViewPr>
    <p:cSldViewPr snapToGrid="0" showGuides="1">
      <p:cViewPr varScale="1">
        <p:scale>
          <a:sx n="85" d="100"/>
          <a:sy n="85" d="100"/>
        </p:scale>
        <p:origin x="48" y="62"/>
      </p:cViewPr>
      <p:guideLst>
        <p:guide pos="416"/>
        <p:guide pos="7256"/>
        <p:guide orient="horz" pos="648"/>
        <p:guide orient="horz" pos="744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24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85F5D-EB2F-4FB1-B480-9E4327591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62785-86A3-400D-9182-96AB45421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55690" y="0"/>
            <a:ext cx="12254040" cy="6858001"/>
            <a:chOff x="-55690" y="0"/>
            <a:chExt cx="12254040" cy="6858001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270"/>
            <a:stretch>
              <a:fillRect/>
            </a:stretch>
          </p:blipFill>
          <p:spPr>
            <a:xfrm>
              <a:off x="0" y="3677921"/>
              <a:ext cx="12192000" cy="318008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6350" y="0"/>
              <a:ext cx="12192000" cy="6858000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3064123" y="895001"/>
              <a:ext cx="2975675" cy="1555595"/>
            </a:xfrm>
            <a:custGeom>
              <a:avLst/>
              <a:gdLst>
                <a:gd name="connsiteX0" fmla="*/ 263311 w 3278889"/>
                <a:gd name="connsiteY0" fmla="*/ 933095 h 1879959"/>
                <a:gd name="connsiteX1" fmla="*/ 1051102 w 3278889"/>
                <a:gd name="connsiteY1" fmla="*/ 4627 h 1879959"/>
                <a:gd name="connsiteX2" fmla="*/ 1656013 w 3278889"/>
                <a:gd name="connsiteY2" fmla="*/ 567335 h 1879959"/>
                <a:gd name="connsiteX3" fmla="*/ 2232788 w 3278889"/>
                <a:gd name="connsiteY3" fmla="*/ 384455 h 1879959"/>
                <a:gd name="connsiteX4" fmla="*/ 3104985 w 3278889"/>
                <a:gd name="connsiteY4" fmla="*/ 806485 h 1879959"/>
                <a:gd name="connsiteX5" fmla="*/ 2992444 w 3278889"/>
                <a:gd name="connsiteY5" fmla="*/ 1805291 h 1879959"/>
                <a:gd name="connsiteX6" fmla="*/ 221108 w 3278889"/>
                <a:gd name="connsiteY6" fmla="*/ 1706818 h 1879959"/>
                <a:gd name="connsiteX7" fmla="*/ 263311 w 3278889"/>
                <a:gd name="connsiteY7" fmla="*/ 933095 h 187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8889" h="1879959">
                  <a:moveTo>
                    <a:pt x="263311" y="933095"/>
                  </a:moveTo>
                  <a:cubicBezTo>
                    <a:pt x="401643" y="649397"/>
                    <a:pt x="818985" y="65587"/>
                    <a:pt x="1051102" y="4627"/>
                  </a:cubicBezTo>
                  <a:cubicBezTo>
                    <a:pt x="1283219" y="-56333"/>
                    <a:pt x="1459065" y="504030"/>
                    <a:pt x="1656013" y="567335"/>
                  </a:cubicBezTo>
                  <a:cubicBezTo>
                    <a:pt x="1852961" y="630640"/>
                    <a:pt x="1991293" y="344597"/>
                    <a:pt x="2232788" y="384455"/>
                  </a:cubicBezTo>
                  <a:cubicBezTo>
                    <a:pt x="2474283" y="424313"/>
                    <a:pt x="2978376" y="569679"/>
                    <a:pt x="3104985" y="806485"/>
                  </a:cubicBezTo>
                  <a:cubicBezTo>
                    <a:pt x="3231594" y="1043291"/>
                    <a:pt x="3473090" y="1655236"/>
                    <a:pt x="2992444" y="1805291"/>
                  </a:cubicBezTo>
                  <a:cubicBezTo>
                    <a:pt x="2511798" y="1955347"/>
                    <a:pt x="671274" y="1856873"/>
                    <a:pt x="221108" y="1706818"/>
                  </a:cubicBezTo>
                  <a:cubicBezTo>
                    <a:pt x="-229058" y="1556763"/>
                    <a:pt x="124979" y="1216793"/>
                    <a:pt x="263311" y="933095"/>
                  </a:cubicBezTo>
                  <a:close/>
                </a:path>
              </a:pathLst>
            </a:custGeom>
            <a:gradFill>
              <a:gsLst>
                <a:gs pos="0">
                  <a:srgbClr val="6E8A8C"/>
                </a:gs>
                <a:gs pos="64000">
                  <a:srgbClr val="FFFFFF">
                    <a:alpha val="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FZQingKeBenYueSongS-R-GB" panose="02000000000000000000" pitchFamily="2" charset="-122"/>
                <a:sym typeface="Arial" panose="020B0604020202020204" pitchFamily="34" charset="0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5690" y="3110675"/>
              <a:ext cx="3375770" cy="2926081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584" y="775411"/>
              <a:ext cx="2100298" cy="21181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66900" y="1778000"/>
            <a:ext cx="8445500" cy="18335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873418" y="3788572"/>
            <a:ext cx="6432464" cy="759253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7861300" y="5859780"/>
            <a:ext cx="3657600" cy="274320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55690" y="0"/>
            <a:ext cx="12254040" cy="6858001"/>
            <a:chOff x="-55690" y="0"/>
            <a:chExt cx="12254040" cy="685800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270"/>
            <a:stretch>
              <a:fillRect/>
            </a:stretch>
          </p:blipFill>
          <p:spPr>
            <a:xfrm>
              <a:off x="0" y="3677921"/>
              <a:ext cx="12192000" cy="3180080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6350" y="0"/>
              <a:ext cx="12192000" cy="6858000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3064123" y="895001"/>
              <a:ext cx="2975675" cy="1555595"/>
            </a:xfrm>
            <a:custGeom>
              <a:avLst/>
              <a:gdLst>
                <a:gd name="connsiteX0" fmla="*/ 263311 w 3278889"/>
                <a:gd name="connsiteY0" fmla="*/ 933095 h 1879959"/>
                <a:gd name="connsiteX1" fmla="*/ 1051102 w 3278889"/>
                <a:gd name="connsiteY1" fmla="*/ 4627 h 1879959"/>
                <a:gd name="connsiteX2" fmla="*/ 1656013 w 3278889"/>
                <a:gd name="connsiteY2" fmla="*/ 567335 h 1879959"/>
                <a:gd name="connsiteX3" fmla="*/ 2232788 w 3278889"/>
                <a:gd name="connsiteY3" fmla="*/ 384455 h 1879959"/>
                <a:gd name="connsiteX4" fmla="*/ 3104985 w 3278889"/>
                <a:gd name="connsiteY4" fmla="*/ 806485 h 1879959"/>
                <a:gd name="connsiteX5" fmla="*/ 2992444 w 3278889"/>
                <a:gd name="connsiteY5" fmla="*/ 1805291 h 1879959"/>
                <a:gd name="connsiteX6" fmla="*/ 221108 w 3278889"/>
                <a:gd name="connsiteY6" fmla="*/ 1706818 h 1879959"/>
                <a:gd name="connsiteX7" fmla="*/ 263311 w 3278889"/>
                <a:gd name="connsiteY7" fmla="*/ 933095 h 187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8889" h="1879959">
                  <a:moveTo>
                    <a:pt x="263311" y="933095"/>
                  </a:moveTo>
                  <a:cubicBezTo>
                    <a:pt x="401643" y="649397"/>
                    <a:pt x="818985" y="65587"/>
                    <a:pt x="1051102" y="4627"/>
                  </a:cubicBezTo>
                  <a:cubicBezTo>
                    <a:pt x="1283219" y="-56333"/>
                    <a:pt x="1459065" y="504030"/>
                    <a:pt x="1656013" y="567335"/>
                  </a:cubicBezTo>
                  <a:cubicBezTo>
                    <a:pt x="1852961" y="630640"/>
                    <a:pt x="1991293" y="344597"/>
                    <a:pt x="2232788" y="384455"/>
                  </a:cubicBezTo>
                  <a:cubicBezTo>
                    <a:pt x="2474283" y="424313"/>
                    <a:pt x="2978376" y="569679"/>
                    <a:pt x="3104985" y="806485"/>
                  </a:cubicBezTo>
                  <a:cubicBezTo>
                    <a:pt x="3231594" y="1043291"/>
                    <a:pt x="3473090" y="1655236"/>
                    <a:pt x="2992444" y="1805291"/>
                  </a:cubicBezTo>
                  <a:cubicBezTo>
                    <a:pt x="2511798" y="1955347"/>
                    <a:pt x="671274" y="1856873"/>
                    <a:pt x="221108" y="1706818"/>
                  </a:cubicBezTo>
                  <a:cubicBezTo>
                    <a:pt x="-229058" y="1556763"/>
                    <a:pt x="124979" y="1216793"/>
                    <a:pt x="263311" y="933095"/>
                  </a:cubicBezTo>
                  <a:close/>
                </a:path>
              </a:pathLst>
            </a:custGeom>
            <a:gradFill>
              <a:gsLst>
                <a:gs pos="0">
                  <a:srgbClr val="6E8A8C"/>
                </a:gs>
                <a:gs pos="64000">
                  <a:srgbClr val="FFFFFF">
                    <a:alpha val="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FZQingKeBenYueSongS-R-GB" panose="02000000000000000000" pitchFamily="2" charset="-122"/>
                <a:sym typeface="Arial" panose="020B0604020202020204" pitchFamily="34" charset="0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5690" y="3110675"/>
              <a:ext cx="3375770" cy="292608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584" y="775411"/>
              <a:ext cx="2100298" cy="21181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38300" y="1956773"/>
            <a:ext cx="89027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638300" y="3333878"/>
            <a:ext cx="8902700" cy="15164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55690" y="0"/>
            <a:ext cx="12254040" cy="6858001"/>
            <a:chOff x="-55690" y="0"/>
            <a:chExt cx="12254040" cy="685800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270"/>
            <a:stretch>
              <a:fillRect/>
            </a:stretch>
          </p:blipFill>
          <p:spPr>
            <a:xfrm>
              <a:off x="0" y="3677921"/>
              <a:ext cx="12192000" cy="318008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6350" y="0"/>
              <a:ext cx="12192000" cy="6858000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3064123" y="895001"/>
              <a:ext cx="2975675" cy="1555595"/>
            </a:xfrm>
            <a:custGeom>
              <a:avLst/>
              <a:gdLst>
                <a:gd name="connsiteX0" fmla="*/ 263311 w 3278889"/>
                <a:gd name="connsiteY0" fmla="*/ 933095 h 1879959"/>
                <a:gd name="connsiteX1" fmla="*/ 1051102 w 3278889"/>
                <a:gd name="connsiteY1" fmla="*/ 4627 h 1879959"/>
                <a:gd name="connsiteX2" fmla="*/ 1656013 w 3278889"/>
                <a:gd name="connsiteY2" fmla="*/ 567335 h 1879959"/>
                <a:gd name="connsiteX3" fmla="*/ 2232788 w 3278889"/>
                <a:gd name="connsiteY3" fmla="*/ 384455 h 1879959"/>
                <a:gd name="connsiteX4" fmla="*/ 3104985 w 3278889"/>
                <a:gd name="connsiteY4" fmla="*/ 806485 h 1879959"/>
                <a:gd name="connsiteX5" fmla="*/ 2992444 w 3278889"/>
                <a:gd name="connsiteY5" fmla="*/ 1805291 h 1879959"/>
                <a:gd name="connsiteX6" fmla="*/ 221108 w 3278889"/>
                <a:gd name="connsiteY6" fmla="*/ 1706818 h 1879959"/>
                <a:gd name="connsiteX7" fmla="*/ 263311 w 3278889"/>
                <a:gd name="connsiteY7" fmla="*/ 933095 h 187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8889" h="1879959">
                  <a:moveTo>
                    <a:pt x="263311" y="933095"/>
                  </a:moveTo>
                  <a:cubicBezTo>
                    <a:pt x="401643" y="649397"/>
                    <a:pt x="818985" y="65587"/>
                    <a:pt x="1051102" y="4627"/>
                  </a:cubicBezTo>
                  <a:cubicBezTo>
                    <a:pt x="1283219" y="-56333"/>
                    <a:pt x="1459065" y="504030"/>
                    <a:pt x="1656013" y="567335"/>
                  </a:cubicBezTo>
                  <a:cubicBezTo>
                    <a:pt x="1852961" y="630640"/>
                    <a:pt x="1991293" y="344597"/>
                    <a:pt x="2232788" y="384455"/>
                  </a:cubicBezTo>
                  <a:cubicBezTo>
                    <a:pt x="2474283" y="424313"/>
                    <a:pt x="2978376" y="569679"/>
                    <a:pt x="3104985" y="806485"/>
                  </a:cubicBezTo>
                  <a:cubicBezTo>
                    <a:pt x="3231594" y="1043291"/>
                    <a:pt x="3473090" y="1655236"/>
                    <a:pt x="2992444" y="1805291"/>
                  </a:cubicBezTo>
                  <a:cubicBezTo>
                    <a:pt x="2511798" y="1955347"/>
                    <a:pt x="671274" y="1856873"/>
                    <a:pt x="221108" y="1706818"/>
                  </a:cubicBezTo>
                  <a:cubicBezTo>
                    <a:pt x="-229058" y="1556763"/>
                    <a:pt x="124979" y="1216793"/>
                    <a:pt x="263311" y="933095"/>
                  </a:cubicBezTo>
                  <a:close/>
                </a:path>
              </a:pathLst>
            </a:custGeom>
            <a:gradFill>
              <a:gsLst>
                <a:gs pos="0">
                  <a:srgbClr val="6E8A8C"/>
                </a:gs>
                <a:gs pos="64000">
                  <a:srgbClr val="FFFFFF">
                    <a:alpha val="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FZQingKeBenYueSongS-R-GB" panose="02000000000000000000" pitchFamily="2" charset="-122"/>
                <a:sym typeface="Arial" panose="020B0604020202020204" pitchFamily="34" charset="0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5690" y="3110675"/>
              <a:ext cx="3375770" cy="292608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584" y="775411"/>
              <a:ext cx="2100298" cy="21181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022600" y="2199840"/>
            <a:ext cx="6134100" cy="211816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7861300" y="5859780"/>
            <a:ext cx="3657600" cy="274320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6900" y="1778000"/>
            <a:ext cx="8445500" cy="1833596"/>
          </a:xfrm>
        </p:spPr>
        <p:txBody>
          <a:bodyPr>
            <a:normAutofit/>
          </a:bodyPr>
          <a:lstStyle/>
          <a:p>
            <a:pPr lvl="0"/>
            <a:r>
              <a:rPr lang="zh-CN" altLang="en-US" sz="4000" dirty="0"/>
              <a:t>中国哲学（上）</a:t>
            </a:r>
            <a:endParaRPr lang="zh-CN" altLang="en-US" sz="4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61300" y="5153025"/>
            <a:ext cx="2797175" cy="981075"/>
          </a:xfrm>
        </p:spPr>
        <p:txBody>
          <a:bodyPr>
            <a:normAutofit/>
          </a:bodyPr>
          <a:lstStyle/>
          <a:p>
            <a:pPr lvl="0"/>
            <a:r>
              <a:rPr lang="zh-CN" altLang="en-US" sz="2000" dirty="0" smtClean="0"/>
              <a:t>孟庆楠、白辉洪</a:t>
            </a:r>
            <a:endParaRPr lang="zh-CN" altLang="en-US" sz="2000" dirty="0" smtClean="0"/>
          </a:p>
          <a:p>
            <a:pPr lvl="0"/>
            <a:r>
              <a:rPr lang="en-US" sz="2000" dirty="0"/>
              <a:t>2026-27-1</a:t>
            </a:r>
            <a:endParaRPr lang="en-US" sz="200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6900" y="1778000"/>
            <a:ext cx="8445500" cy="1833596"/>
          </a:xfrm>
        </p:spPr>
        <p:txBody>
          <a:bodyPr>
            <a:normAutofit/>
          </a:bodyPr>
          <a:lstStyle/>
          <a:p>
            <a:pPr lvl="0"/>
            <a:r>
              <a:rPr lang="zh-CN" altLang="en-US" sz="4000" dirty="0"/>
              <a:t>第二讲</a:t>
            </a:r>
            <a:r>
              <a:rPr lang="en-US" altLang="zh-CN" sz="4000" dirty="0"/>
              <a:t>  </a:t>
            </a:r>
            <a:r>
              <a:rPr lang="zh-CN" altLang="en-US" sz="4000" dirty="0"/>
              <a:t>孔子</a:t>
            </a:r>
            <a:endParaRPr lang="zh-CN" altLang="en-US" sz="4000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孔子其人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孔子生鲁昌平乡陬邑，其先宋人也。……鲁襄公二十二年而孔子生。……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孔子贫且贱。及长，尝为季氏史，料量平；尝为司职吏而畜蕃息。由是为司空。已而去鲁，斥乎齐，逐乎宋、卫，困于陈蔡之间，于是反鲁。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……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鲁昭公之二十年，而孔子盖年三十矣。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……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定公九年，阳虎不胜，奔于齐。是时孔子年五十。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……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其后定公以孔子为中都宰，一年，四方皆则之。由中都宰为司空，由司空为大司寇。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……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桓子卒受齐女乐，三日不听政；郊，又不致膰俎于大夫。孔子遂行。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……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孔子之去鲁凡十四岁而反乎鲁。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……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孔子年七十三，以鲁哀公十六年四月己丑卒。（《史记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·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孔子世家》）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（鲁国世系：隐桓庄闵僖文宣成襄昭定哀）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一、孔子与儒家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一、孔子与儒家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>
                  <a:sym typeface="+mn-ea"/>
                </a:rPr>
                <a:t>变革时代与秩序问题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孔子之时，周室微而礼乐废，《诗》《书》缺。（《史记·孔子世家》）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孔子谓季氏，“八佾舞于庭，是可忍也，孰不可忍也？”（《论语·八佾》）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一、孔子与儒家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儒家的选择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突破与转化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子曰：“周监于二代，郁郁乎文哉！吾从周。”（ 《论语·八佾》 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子张问：“十世可知也？”子曰：“殷因于夏礼，所损益，可知也；周因于殷礼，所损益，可知也。其或继周者，虽百世，可知也。”（《论语·为政》）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二、名与礼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二、名与礼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名与正名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路曰：“卫君待子而为政，子将奚先？”子曰：“必也正名乎！”子路曰：“有是哉，子之迂也！奚其正？”子曰：“野哉，由也！君子于其所不知，盖阙如也。名不正，则言不顺；言不顺，则事不成；事不成，则礼乐不兴；礼乐不兴，则刑罚不中；刑罚不中，则民无所错手足。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……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”（《论语·子路》）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齐景公问政于孔子。孔子对曰：“君君、臣臣、父父、子子。” （《论语·颜渊》） 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二、名与礼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礼之本末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礼云礼云，玉帛云乎哉？乐云乐云，钟鼓云乎哉？（《论语·阳货》）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子贡欲去告朔之饩羊。子曰：“赐也！尔爱其羊，我爱其礼。” （《论语·八佾》） 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二、名与礼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礼与道德意识的培养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道之以政，齐之以刑，民免而无耻。道之以德，齐之以礼，有耻且格。（《论语·为政》）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二、名与礼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礼的规范与权宜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中庸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中庸之为德，其至矣乎，民鲜久矣。（《论语·雍也》）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不偏之谓中，不易之谓庸。（宋儒解中庸）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过犹不及。（ 《论语·先进》 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三、仁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三、仁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仁与礼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人而不仁，如礼何？人而不仁，如乐何？（《论语·八佾》）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克己复礼为仁。一日克己复礼，天下归仁焉。（《论语·颜渊》）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非礼勿视，非礼勿听，非礼勿言，非礼勿动。 （《论语·颜渊》）</a:t>
              </a:r>
              <a:endParaRPr lang="en-US" altLang="zh-CN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三、仁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仁与己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为仁由己，而由乎人哉？ （《论语·颜渊》）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仁远乎哉？我欲仁，斯仁至矣。（《论语·述而》 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三、仁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仁爱之始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亲亲相隐及其危险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樊迟问仁。子曰：“爱人。”（ 《论语·颜渊》 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孝弟也者，其为仁之本与！ （《论语·学而》）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叶公语孔子曰：“吾党有直躬者，其父攘羊，而子证之。”孔子曰：“吾党之直者异于是，父为子隐，子为父隐，直在其中矣。”（《论语·子路》） 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三、仁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仁爱的推扩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弟子入则孝，出则悌，谨而信，泛爱众，而亲仁。行有余力，则以学文。 （《论语·学而》）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己所勿欲，勿施于人。（《论语·颜渊》） 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夫仁者，己欲立而立人，己欲达而达人。能近取譬，可谓仁之方也已。（《论语·雍也》）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四、教化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四、教化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政治教化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子适卫，冉有仆。子曰：“庶矣哉！”冉有曰：“既庶矣，又何加焉？”曰：“富之。”曰：“既富矣，又何加焉？”曰：“教之。”（《论语·子路》）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四、教化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政治教化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季康子问政于孔子。孔子对曰：“政者，正也。子帅以正，孰敢不正？”（《论语·颜渊》）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季康子患盗，问于孔子。孔子对曰：“苟子之不欲，虽赏之不窃。”（《论语·颜渊》）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季康子问政于孔子曰：“如杀无道，以就有道，何如？”孔子对曰：“子为政，焉用杀？子欲善而民善矣。君子之德风，小人之德草，草上之风，必偃。”（《论语·颜渊》）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四、教化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私人讲学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子曰：“有教无类。”（《论语·卫灵公》）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子曰：“自行束脩以上，吾未尝无诲焉。”（《论语·述而》）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子以四教：文，行，忠，信。 （《论语·述而》）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四、教化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儒门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四科十哲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德行：颜渊、闵子骞、冉伯牛、仲弓。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言语：宰我、子贡。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政事：冉有、季路。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文学：子游、子夏。 （《論語·先進》）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四、教化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儒门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孔子之后的发展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自孔子卒后，七十子之徒散游诸侯，大者为师傅卿相，小者友教士大夫，或隐而不见。故子路居卫，子张居陈，澹台子羽居楚，子夏居西河，子贡终于齐。（《史记·儒林传》）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四、教化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儒门</a:t>
              </a: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遗留的问题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子贡曰：“夫子之文章，可得而闻也；夫子之言性与天道，不可得而闻也。”（《论语·公冶长》）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人性与天道：儒家思考秩序问题的两条路径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LIDE.THEME" val="https://www.islide.cc;"/>
</p:tagLst>
</file>

<file path=ppt/tags/tag2.xml><?xml version="1.0" encoding="utf-8"?>
<p:tagLst xmlns:p="http://schemas.openxmlformats.org/presentationml/2006/main">
  <p:tag name="ISLIDE.THEME" val="https://www.islide.cc;"/>
</p:tagLst>
</file>

<file path=ppt/tags/tag3.xml><?xml version="1.0" encoding="utf-8"?>
<p:tagLst xmlns:p="http://schemas.openxmlformats.org/presentationml/2006/main">
  <p:tag name="ISLIDE.DIAGRAM" val="4318"/>
</p:tagLst>
</file>

<file path=ppt/tags/tag4.xml><?xml version="1.0" encoding="utf-8"?>
<p:tagLst xmlns:p="http://schemas.openxmlformats.org/presentationml/2006/main">
  <p:tag name="ISLIDE.THEME" val="https://www.islide.cc;"/>
</p:tagLst>
</file>

<file path=ppt/tags/tag5.xml><?xml version="1.0" encoding="utf-8"?>
<p:tagLst xmlns:p="http://schemas.openxmlformats.org/presentationml/2006/main">
  <p:tag name="ISLIDE.DIAGRAM" val="4318"/>
</p:tagLst>
</file>

<file path=ppt/tags/tag6.xml><?xml version="1.0" encoding="utf-8"?>
<p:tagLst xmlns:p="http://schemas.openxmlformats.org/presentationml/2006/main">
  <p:tag name="ISLIDE.DIAGRAM" val="4318"/>
</p:tagLst>
</file>

<file path=ppt/tags/tag7.xml><?xml version="1.0" encoding="utf-8"?>
<p:tagLst xmlns:p="http://schemas.openxmlformats.org/presentationml/2006/main">
  <p:tag name="ISLIDE.THEME" val="https://www.islide.cc;"/>
</p:tagLst>
</file>

<file path=ppt/tags/tag8.xml><?xml version="1.0" encoding="utf-8"?>
<p:tagLst xmlns:p="http://schemas.openxmlformats.org/presentationml/2006/main">
  <p:tag name="ISLIDE.DIAGRAM" val="4318"/>
</p:tagLst>
</file>

<file path=ppt/tags/tag9.xml><?xml version="1.0" encoding="utf-8"?>
<p:tagLst xmlns:p="http://schemas.openxmlformats.org/presentationml/2006/main">
  <p:tag name="ISLIDE.DIAGRAM" val="4318"/>
</p:tagLst>
</file>

<file path=ppt/tags/tag10.xml><?xml version="1.0" encoding="utf-8"?>
<p:tagLst xmlns:p="http://schemas.openxmlformats.org/presentationml/2006/main">
  <p:tag name="ISLIDE.DIAGRAM" val="4318"/>
</p:tagLst>
</file>

<file path=ppt/tags/tag11.xml><?xml version="1.0" encoding="utf-8"?>
<p:tagLst xmlns:p="http://schemas.openxmlformats.org/presentationml/2006/main">
  <p:tag name="ISLIDE.DIAGRAM" val="4318"/>
</p:tagLst>
</file>

<file path=ppt/tags/tag12.xml><?xml version="1.0" encoding="utf-8"?>
<p:tagLst xmlns:p="http://schemas.openxmlformats.org/presentationml/2006/main">
  <p:tag name="ISLIDE.THEME" val="https://www.islide.cc;"/>
</p:tagLst>
</file>

<file path=ppt/tags/tag13.xml><?xml version="1.0" encoding="utf-8"?>
<p:tagLst xmlns:p="http://schemas.openxmlformats.org/presentationml/2006/main">
  <p:tag name="ISLIDE.DIAGRAM" val="4318"/>
</p:tagLst>
</file>

<file path=ppt/tags/tag14.xml><?xml version="1.0" encoding="utf-8"?>
<p:tagLst xmlns:p="http://schemas.openxmlformats.org/presentationml/2006/main">
  <p:tag name="ISLIDE.DIAGRAM" val="4318"/>
</p:tagLst>
</file>

<file path=ppt/tags/tag15.xml><?xml version="1.0" encoding="utf-8"?>
<p:tagLst xmlns:p="http://schemas.openxmlformats.org/presentationml/2006/main">
  <p:tag name="ISLIDE.DIAGRAM" val="4318"/>
</p:tagLst>
</file>

<file path=ppt/tags/tag16.xml><?xml version="1.0" encoding="utf-8"?>
<p:tagLst xmlns:p="http://schemas.openxmlformats.org/presentationml/2006/main">
  <p:tag name="ISLIDE.DIAGRAM" val="4318"/>
</p:tagLst>
</file>

<file path=ppt/tags/tag17.xml><?xml version="1.0" encoding="utf-8"?>
<p:tagLst xmlns:p="http://schemas.openxmlformats.org/presentationml/2006/main">
  <p:tag name="ISLIDE.THEME" val="https://www.islide.cc;"/>
</p:tagLst>
</file>

<file path=ppt/tags/tag18.xml><?xml version="1.0" encoding="utf-8"?>
<p:tagLst xmlns:p="http://schemas.openxmlformats.org/presentationml/2006/main">
  <p:tag name="ISLIDE.DIAGRAM" val="4318"/>
</p:tagLst>
</file>

<file path=ppt/tags/tag19.xml><?xml version="1.0" encoding="utf-8"?>
<p:tagLst xmlns:p="http://schemas.openxmlformats.org/presentationml/2006/main">
  <p:tag name="ISLIDE.DIAGRAM" val="4318"/>
</p:tagLst>
</file>

<file path=ppt/tags/tag20.xml><?xml version="1.0" encoding="utf-8"?>
<p:tagLst xmlns:p="http://schemas.openxmlformats.org/presentationml/2006/main">
  <p:tag name="ISLIDE.DIAGRAM" val="4318"/>
</p:tagLst>
</file>

<file path=ppt/tags/tag21.xml><?xml version="1.0" encoding="utf-8"?>
<p:tagLst xmlns:p="http://schemas.openxmlformats.org/presentationml/2006/main">
  <p:tag name="ISLIDE.DIAGRAM" val="4318"/>
</p:tagLst>
</file>

<file path=ppt/tags/tag22.xml><?xml version="1.0" encoding="utf-8"?>
<p:tagLst xmlns:p="http://schemas.openxmlformats.org/presentationml/2006/main">
  <p:tag name="ISLIDE.DIAGRAM" val="4318"/>
</p:tagLst>
</file>

<file path=ppt/tags/tag23.xml><?xml version="1.0" encoding="utf-8"?>
<p:tagLst xmlns:p="http://schemas.openxmlformats.org/presentationml/2006/main">
  <p:tag name="ISLIDE.DIAGRAM" val="4318"/>
</p:tagLst>
</file>

<file path=ppt/tags/tag24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ISLIDE.THEME" val="#935486"/>
  <p:tag name="commondata" val="eyJoZGlkIjoiYjU4MmJkNDBiNTI5Njk5MzUyMmUzNDc3ZmZjYzczM2MifQ==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5D99A7"/>
      </a:accent1>
      <a:accent2>
        <a:srgbClr val="E5B952"/>
      </a:accent2>
      <a:accent3>
        <a:srgbClr val="C6CBCC"/>
      </a:accent3>
      <a:accent4>
        <a:srgbClr val="ADB0B1"/>
      </a:accent4>
      <a:accent5>
        <a:srgbClr val="8E9090"/>
      </a:accent5>
      <a:accent6>
        <a:srgbClr val="787B7B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1869</Words>
  <Application>WPS 演示</Application>
  <PresentationFormat>宽屏</PresentationFormat>
  <Paragraphs>218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FZQingKeBenYueSongS-R-GB</vt:lpstr>
      <vt:lpstr>Arial Unicode MS</vt:lpstr>
      <vt:lpstr>等线</vt:lpstr>
      <vt:lpstr>Designed by iSlide</vt:lpstr>
      <vt:lpstr>中国哲学（上）</vt:lpstr>
      <vt:lpstr>第二讲  孔子</vt:lpstr>
      <vt:lpstr>PowerPoint 演示文稿</vt:lpstr>
      <vt:lpstr>一、孔子与儒家</vt:lpstr>
      <vt:lpstr>一、孔子与儒家</vt:lpstr>
      <vt:lpstr>一、孔子与儒家</vt:lpstr>
      <vt:lpstr>二、名与礼</vt:lpstr>
      <vt:lpstr>二、名与礼</vt:lpstr>
      <vt:lpstr>二、名与礼</vt:lpstr>
      <vt:lpstr>二、名与礼</vt:lpstr>
      <vt:lpstr>二、名与礼</vt:lpstr>
      <vt:lpstr>三、仁</vt:lpstr>
      <vt:lpstr>三、仁</vt:lpstr>
      <vt:lpstr>三、仁</vt:lpstr>
      <vt:lpstr>三、仁</vt:lpstr>
      <vt:lpstr>三、仁</vt:lpstr>
      <vt:lpstr>四、教化</vt:lpstr>
      <vt:lpstr>四、教化</vt:lpstr>
      <vt:lpstr>四、教化</vt:lpstr>
      <vt:lpstr>四、教化</vt:lpstr>
      <vt:lpstr>四、教化</vt:lpstr>
      <vt:lpstr>四、教化</vt:lpstr>
      <vt:lpstr>四、教化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儒家仁爱观念在伦理结构中的展开</dc:title>
  <dc:creator>iSlide</dc:creator>
  <cp:lastModifiedBy>孟庆楠</cp:lastModifiedBy>
  <cp:revision>69</cp:revision>
  <cp:lastPrinted>2024-01-17T16:00:00Z</cp:lastPrinted>
  <dcterms:created xsi:type="dcterms:W3CDTF">2024-01-17T16:00:00Z</dcterms:created>
  <dcterms:modified xsi:type="dcterms:W3CDTF">2026-09-14T01:37:37Z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4a1fdab6-13b4-4b78-bf6e-8435c7fb9ed9</vt:lpwstr>
  </property>
  <property fmtid="{D5CDD505-2E9C-101B-9397-08002B2CF9AE}" pid="3" name="ICV">
    <vt:lpwstr>CDFA8BF229E34B2BBBEC3640D506D0A0_13</vt:lpwstr>
  </property>
  <property fmtid="{D5CDD505-2E9C-101B-9397-08002B2CF9AE}" pid="4" name="KSOProductBuildVer">
    <vt:lpwstr>2052-12.1.0.28505</vt:lpwstr>
  </property>
</Properties>
</file>