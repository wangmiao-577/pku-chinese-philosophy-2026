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9" r:id="rId10"/>
    <p:sldId id="264" r:id="rId11"/>
    <p:sldId id="270" r:id="rId12"/>
    <p:sldId id="266" r:id="rId13"/>
    <p:sldId id="265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03F19-8731-4BBA-9EAC-FDBF063EB22E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9C605-AF32-483A-8B14-B7277B41F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75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9C605-AF32-483A-8B14-B7277B41FC8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133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9C605-AF32-483A-8B14-B7277B41FC8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72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91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4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141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784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3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72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94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918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806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98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02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BAA7F1E-212F-41E8-A77D-5A6718BC3400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066BBDF-4224-4406-9452-05D5AD45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7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0B206-9257-C2ED-43B4-8A4671F94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7497" y="1775380"/>
            <a:ext cx="6074917" cy="1411166"/>
          </a:xfrm>
        </p:spPr>
        <p:txBody>
          <a:bodyPr/>
          <a:lstStyle/>
          <a:p>
            <a:r>
              <a:rPr lang="zh-CN" altLang="en-US" sz="6000" dirty="0">
                <a:latin typeface="黑体" panose="02010609060101010101" pitchFamily="49" charset="-122"/>
                <a:ea typeface="黑体" panose="02010609060101010101" pitchFamily="49" charset="-122"/>
              </a:rPr>
              <a:t>中国哲学（上）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C76BFA-076B-4F9E-8236-F21B99ADC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3602182"/>
            <a:ext cx="9070848" cy="1773382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sz="4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第四讲 老子</a:t>
            </a:r>
          </a:p>
        </p:txBody>
      </p:sp>
    </p:spTree>
    <p:extLst>
      <p:ext uri="{BB962C8B-B14F-4D97-AF65-F5344CB8AC3E}">
        <p14:creationId xmlns:p14="http://schemas.microsoft.com/office/powerpoint/2010/main" val="49590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077D8-EEB1-05EE-66A2-27F751A4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3771207" cy="564182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1BF7F-E584-4DA2-32F1-CCC6750F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287" y="371302"/>
            <a:ext cx="5663737" cy="6029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     </a:t>
            </a:r>
            <a:endParaRPr lang="en-US" altLang="zh-CN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altLang="zh-CN" dirty="0"/>
              <a:t>      </a:t>
            </a:r>
            <a:r>
              <a:rPr lang="zh-CN" altLang="en-US" dirty="0"/>
              <a:t>老子者，楚苦县厉乡曲仁里人也，姓李氏，名耳，字聃，周守藏室之史也。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zh-CN" altLang="en-US" dirty="0"/>
              <a:t>       孔子适周，将问礼于老子。老子曰：“子所言者，其人与骨皆已朽矣，独其言在耳。且君子得其时则驾，不得其时则蓬累而行。吾闻之，良贾深藏若虚，君子盛德，容貌若愚。去子之骄气与多欲，态色与淫志，是皆无益于子之身。吾所以告子，若是而已。”</a:t>
            </a:r>
            <a:endParaRPr lang="en-US" altLang="zh-CN" dirty="0"/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……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老子修道德，其学以自隐无名为务。居周久之，见周之衰，乃遂去。至关，关令尹喜曰：“子将隐矣，强为我著书。”于是老子乃著书上下篇，言道德之意五千余言而去，莫知其所终。</a:t>
            </a:r>
            <a:endParaRPr lang="en-US" altLang="zh-CN" dirty="0">
              <a:latin typeface="+mn-ea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……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zh-CN" altLang="en-US" dirty="0"/>
              <a:t>       世之学老子者则绌儒学，儒学亦绌老子。“道不同不相为谋”，岂谓是邪？李耳无为自化，清静自正。</a:t>
            </a:r>
            <a:endParaRPr lang="en-US" altLang="zh-CN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altLang="zh-CN" dirty="0"/>
              <a:t>——《</a:t>
            </a:r>
            <a:r>
              <a:rPr lang="zh-CN" altLang="en-US" dirty="0"/>
              <a:t>史记</a:t>
            </a:r>
            <a:r>
              <a:rPr lang="en-US" altLang="zh-CN" dirty="0"/>
              <a:t>•</a:t>
            </a:r>
            <a:r>
              <a:rPr lang="zh-CN" altLang="en-US" dirty="0"/>
              <a:t>老庄申韩列传</a:t>
            </a:r>
            <a:r>
              <a:rPr lang="en-US" altLang="zh-CN" dirty="0"/>
              <a:t>》</a:t>
            </a:r>
          </a:p>
          <a:p>
            <a:pPr marL="0" indent="0" algn="just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45AE7D-1925-219A-FA89-AE277E52154F}"/>
              </a:ext>
            </a:extLst>
          </p:cNvPr>
          <p:cNvPicPr>
            <a:picLocks/>
          </p:cNvPicPr>
          <p:nvPr/>
        </p:nvPicPr>
        <p:blipFill>
          <a:blip r:embed="rId3"/>
          <a:srcRect r="-36" b="-327"/>
          <a:stretch>
            <a:fillRect/>
          </a:stretch>
        </p:blipFill>
        <p:spPr>
          <a:xfrm>
            <a:off x="272587" y="260638"/>
            <a:ext cx="2858539" cy="4300277"/>
          </a:xfrm>
          <a:prstGeom prst="round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DC837E-13D7-1281-8118-4C3FC3FC7EC2}"/>
              </a:ext>
            </a:extLst>
          </p:cNvPr>
          <p:cNvPicPr>
            <a:picLocks/>
          </p:cNvPicPr>
          <p:nvPr/>
        </p:nvPicPr>
        <p:blipFill>
          <a:blip r:embed="rId4"/>
          <a:srcRect l="57968" t="12667" b="2647"/>
          <a:stretch>
            <a:fillRect/>
          </a:stretch>
        </p:blipFill>
        <p:spPr>
          <a:xfrm>
            <a:off x="2726575" y="1124988"/>
            <a:ext cx="3108960" cy="51594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3598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31D04-A6A9-5F94-8824-9862EF22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7" y="504047"/>
            <a:ext cx="2593571" cy="55309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6FB3C-AB4D-A505-4607-FC95DE09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491" y="598516"/>
            <a:ext cx="7060276" cy="549194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刘向：</a:t>
            </a:r>
            <a:r>
              <a:rPr lang="zh-CN" altLang="en-US" dirty="0"/>
              <a:t>定著二篇八十一章。上经第一，三十七章，下经第二，四十四章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……</a:t>
            </a:r>
            <a:r>
              <a:rPr lang="en-US" altLang="zh-CN" dirty="0"/>
              <a:t>《</a:t>
            </a:r>
            <a:r>
              <a:rPr lang="zh-CN" altLang="en-US" dirty="0"/>
              <a:t>道经</a:t>
            </a:r>
            <a:r>
              <a:rPr lang="en-US" altLang="zh-CN" dirty="0"/>
              <a:t>》</a:t>
            </a:r>
            <a:r>
              <a:rPr lang="zh-CN" altLang="en-US" dirty="0"/>
              <a:t>在上以法天，天数奇，故有三十七章；</a:t>
            </a:r>
            <a:r>
              <a:rPr lang="en-US" altLang="zh-CN" dirty="0"/>
              <a:t>《</a:t>
            </a:r>
            <a:r>
              <a:rPr lang="zh-CN" altLang="en-US" dirty="0"/>
              <a:t>德经</a:t>
            </a:r>
            <a:r>
              <a:rPr lang="en-US" altLang="zh-CN" dirty="0"/>
              <a:t>》</a:t>
            </a:r>
            <a:r>
              <a:rPr lang="zh-CN" altLang="en-US" dirty="0"/>
              <a:t>在下以法地，地数偶，故有四十四章。（</a:t>
            </a:r>
            <a:r>
              <a:rPr lang="en-US" altLang="zh-CN" dirty="0"/>
              <a:t>《</a:t>
            </a:r>
            <a:r>
              <a:rPr lang="zh-CN" altLang="en-US" dirty="0"/>
              <a:t>混元圣纪</a:t>
            </a:r>
            <a:r>
              <a:rPr lang="en-US" altLang="zh-CN" dirty="0"/>
              <a:t>》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王弼本、河上公本、想尔注本、傅奕本、范应元本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……</a:t>
            </a:r>
          </a:p>
          <a:p>
            <a:pPr marL="0" indent="0">
              <a:buNone/>
            </a:pP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    </a:t>
            </a:r>
            <a:r>
              <a:rPr lang="zh-CN" altLang="en-US" dirty="0">
                <a:latin typeface="+mn-ea"/>
              </a:rPr>
              <a:t>严遵本，德经在前，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章；道经在后，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DFKai-SB" panose="03000509000000000000" pitchFamily="65" charset="-120"/>
                <a:ea typeface="DFKai-SB" panose="03000509000000000000" pitchFamily="65" charset="-120"/>
              </a:rPr>
              <a:t>    </a:t>
            </a:r>
            <a:r>
              <a:rPr lang="zh-CN" altLang="en-US" dirty="0">
                <a:latin typeface="+mn-ea"/>
              </a:rPr>
              <a:t>马王堆汉墓帛书甲、乙本，德经在前，道经在后，未分章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荆门郭店楚简本甲、乙、丙三组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北大汉简本，德经在前，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章；道经在后，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r>
              <a:rPr lang="zh-CN" altLang="en-US" dirty="0">
                <a:latin typeface="+mn-ea"/>
              </a:rPr>
              <a:t>章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丁四新：</a:t>
            </a:r>
            <a:r>
              <a:rPr lang="en-US" altLang="zh-CN" dirty="0">
                <a:latin typeface="+mn-ea"/>
              </a:rPr>
              <a:t>《〈</a:t>
            </a:r>
            <a:r>
              <a:rPr lang="zh-CN" altLang="en-US" dirty="0">
                <a:latin typeface="+mn-ea"/>
              </a:rPr>
              <a:t>老子</a:t>
            </a:r>
            <a:r>
              <a:rPr lang="en-US" altLang="zh-CN" dirty="0">
                <a:latin typeface="+mn-ea"/>
              </a:rPr>
              <a:t>〉</a:t>
            </a:r>
            <a:r>
              <a:rPr lang="zh-CN" altLang="en-US" dirty="0">
                <a:latin typeface="+mn-ea"/>
              </a:rPr>
              <a:t>的分章观念及其检讨</a:t>
            </a:r>
            <a:r>
              <a:rPr lang="en-US" altLang="zh-CN" dirty="0">
                <a:latin typeface="+mn-ea"/>
              </a:rPr>
              <a:t>》</a:t>
            </a:r>
          </a:p>
          <a:p>
            <a:pPr marL="0" indent="0">
              <a:buNone/>
            </a:pPr>
            <a:endParaRPr lang="zh-CN" altLang="en-US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6AFC03-C4EE-EBDA-A156-7DA1C9F52EF0}"/>
              </a:ext>
            </a:extLst>
          </p:cNvPr>
          <p:cNvPicPr>
            <a:picLocks/>
          </p:cNvPicPr>
          <p:nvPr/>
        </p:nvPicPr>
        <p:blipFill>
          <a:blip r:embed="rId3"/>
          <a:srcRect l="24034" t="17940" r="15522" b="3596"/>
          <a:stretch>
            <a:fillRect/>
          </a:stretch>
        </p:blipFill>
        <p:spPr>
          <a:xfrm>
            <a:off x="404552" y="598516"/>
            <a:ext cx="3552305" cy="580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5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C0446-F0D5-4D26-BF5D-2AF1F253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404" y="825732"/>
            <a:ext cx="2457795" cy="1934094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时代变革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9D7E5-0A76-ADB8-B0CD-96CF1DBE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825731"/>
            <a:ext cx="7040881" cy="520930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    </a:t>
            </a:r>
            <a:endParaRPr lang="en-US" altLang="zh-CN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altLang="zh-CN" dirty="0"/>
              <a:t>        </a:t>
            </a:r>
            <a:r>
              <a:rPr lang="zh-CN" altLang="en-US" sz="2000" dirty="0"/>
              <a:t>朝甚除，田甚芜，仓甚虚，服文彩，带利剑，厌饮食，财货有余，是谓夸盗，非道也哉！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zh-CN" altLang="en-US" sz="2000" dirty="0"/>
              <a:t>       民之饥，以其上食税之多，是以饥；民之难治，以其上之有为，是以难治；民之轻死，以其求生之厚，是以轻死。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endParaRPr lang="en-US" altLang="zh-CN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zh-CN" altLang="en-US" sz="2000" dirty="0"/>
              <a:t>       大道废，有仁义；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（智慧出，有大伪；）</a:t>
            </a:r>
            <a:r>
              <a:rPr lang="zh-CN" altLang="en-US" sz="2000" dirty="0"/>
              <a:t>六亲不和，有孝慈；国家昏乱，有忠臣。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zh-CN" altLang="en-US" sz="2000" dirty="0"/>
              <a:t>      绝圣弃智，民利百倍；绝仁弃义，民复孝慈；绝巧弃利，盗贼无有。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（郭店本：绝智弃辩、绝伪弃诈、绝巧弃利）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zh-CN" altLang="en-US" sz="2000" dirty="0"/>
              <a:t>     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3C68AF-7AB8-F2A6-82A2-20FBBAC796AD}"/>
              </a:ext>
            </a:extLst>
          </p:cNvPr>
          <p:cNvSpPr txBox="1"/>
          <p:nvPr/>
        </p:nvSpPr>
        <p:spPr>
          <a:xfrm>
            <a:off x="9027621" y="4357198"/>
            <a:ext cx="1967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rPr>
              <a:t>价值重估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46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A595-F79D-76A7-AB89-BFA6872C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无为与自然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009696-6DCC-2158-6BCD-DA6DBC32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r>
              <a:rPr lang="zh-CN" altLang="en-US" sz="3200" dirty="0"/>
              <a:t>我无为而民自化</a:t>
            </a:r>
            <a:endParaRPr lang="en-US" altLang="zh-CN" sz="3200" dirty="0"/>
          </a:p>
          <a:p>
            <a:pPr marL="0" indent="0" algn="ctr">
              <a:buNone/>
            </a:pPr>
            <a:r>
              <a:rPr lang="zh-CN" altLang="en-US" sz="3200" dirty="0"/>
              <a:t>我好静而民自正</a:t>
            </a:r>
            <a:endParaRPr lang="en-US" altLang="zh-CN" sz="3200" dirty="0"/>
          </a:p>
          <a:p>
            <a:pPr marL="0" indent="0" algn="ctr">
              <a:buNone/>
            </a:pPr>
            <a:r>
              <a:rPr lang="zh-CN" altLang="en-US" sz="3200" dirty="0"/>
              <a:t>我无事而民自富</a:t>
            </a:r>
            <a:endParaRPr lang="en-US" altLang="zh-CN" sz="3200" dirty="0"/>
          </a:p>
          <a:p>
            <a:pPr marL="0" indent="0" algn="ctr">
              <a:buNone/>
            </a:pPr>
            <a:r>
              <a:rPr lang="zh-CN" altLang="en-US" sz="3200" dirty="0"/>
              <a:t>我无欲而民自朴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7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9164E-F214-2049-0BCE-959312E1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063" y="1108363"/>
            <a:ext cx="2236124" cy="4411287"/>
          </a:xfrm>
        </p:spPr>
        <p:txBody>
          <a:bodyPr/>
          <a:lstStyle/>
          <a:p>
            <a:r>
              <a:rPr lang="zh-CN" altLang="en-US" dirty="0"/>
              <a:t>道与德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43C84-C5E0-DCFD-01C2-B5AE244E9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665018"/>
            <a:ext cx="7057505" cy="55639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郑开：</a:t>
            </a:r>
            <a:r>
              <a:rPr lang="zh-CN" altLang="en-US" dirty="0"/>
              <a:t>既然“德”乃前诸子时期思想史的主题，同时也是诸子哲学所由以突破与开展的背景和基础，那么，诸子百家哲学如何讨论与诠释“德”，就十分耐人寻味了。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前诸子时期的</a:t>
            </a:r>
            <a:r>
              <a:rPr lang="en-US" altLang="zh-CN" dirty="0"/>
              <a:t> </a:t>
            </a:r>
            <a:r>
              <a:rPr lang="zh-CN" altLang="en-US" dirty="0"/>
              <a:t>“德”指什么？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善用人者为之下，是谓不争之德。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明道若昧，进道若退，夷道若类。上德若谷，太白若辱，广德若不足，建德若偷，质真若渝。大方无隅，大器晚成，大音希声，大象无形。</a:t>
            </a:r>
          </a:p>
        </p:txBody>
      </p:sp>
    </p:spTree>
    <p:extLst>
      <p:ext uri="{BB962C8B-B14F-4D97-AF65-F5344CB8AC3E}">
        <p14:creationId xmlns:p14="http://schemas.microsoft.com/office/powerpoint/2010/main" val="19564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C2F7F-D77B-38CF-12F4-4D5B6B88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86" y="969818"/>
            <a:ext cx="2815243" cy="5065222"/>
          </a:xfrm>
        </p:spPr>
        <p:txBody>
          <a:bodyPr/>
          <a:lstStyle/>
          <a:p>
            <a:pPr algn="ctr"/>
            <a:r>
              <a:rPr lang="zh-CN" altLang="en-US" dirty="0"/>
              <a:t>道与德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31EB79-7594-8DDA-5418-AF49B39FF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969818"/>
            <a:ext cx="6885709" cy="5065222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孔德之容，惟道是从。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道生之，德畜之。物形之，势（器）成之。是以万物莫不尊道而贵德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……</a:t>
            </a:r>
            <a:r>
              <a:rPr lang="zh-CN" altLang="en-US" dirty="0"/>
              <a:t>故道生之，（德）畜之，长之，育之，成之，熟之，养之，覆之。</a:t>
            </a:r>
          </a:p>
        </p:txBody>
      </p:sp>
    </p:spTree>
    <p:extLst>
      <p:ext uri="{BB962C8B-B14F-4D97-AF65-F5344CB8AC3E}">
        <p14:creationId xmlns:p14="http://schemas.microsoft.com/office/powerpoint/2010/main" val="241868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447B5-31BF-51B9-1670-4BF84ED6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109" y="199506"/>
            <a:ext cx="2987040" cy="5447608"/>
          </a:xfrm>
        </p:spPr>
        <p:txBody>
          <a:bodyPr>
            <a:scene3d>
              <a:camera prst="orthographicFront">
                <a:rot lat="21299999" lon="0" rev="0"/>
              </a:camera>
              <a:lightRig rig="threePt" dir="t"/>
            </a:scene3d>
          </a:bodyPr>
          <a:lstStyle/>
          <a:p>
            <a:pPr algn="ctr"/>
            <a:r>
              <a:rPr lang="zh-CN" altLang="en-US" dirty="0">
                <a:effectLst/>
              </a:rPr>
              <a:t>玄德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1024DA-1AC0-CA77-6B09-233FC7BA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942109"/>
            <a:ext cx="6569825" cy="509293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生而不有，为而不恃，长而不宰，是谓玄德。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大道泛兮，其可左右。万物恃之而生而不辞，功成而不名有。爱养万物而不为主，常无欲，可名于小。万物归焉而不为主，可名为大。是以圣人终不为大，故能成其大。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《</a:t>
            </a:r>
            <a:r>
              <a:rPr lang="zh-CN" altLang="en-US" dirty="0"/>
              <a:t>诗</a:t>
            </a:r>
            <a:r>
              <a:rPr lang="en-US" altLang="zh-CN" dirty="0"/>
              <a:t>》</a:t>
            </a:r>
            <a:r>
              <a:rPr lang="zh-CN" altLang="en-US" dirty="0"/>
              <a:t>云：“予怀明德，不大声以色。”子曰：“声色之于以化民，末也。”（</a:t>
            </a:r>
            <a:r>
              <a:rPr lang="en-US" altLang="zh-CN" dirty="0"/>
              <a:t>《</a:t>
            </a:r>
            <a:r>
              <a:rPr lang="zh-CN" altLang="en-US" dirty="0"/>
              <a:t>中庸</a:t>
            </a:r>
            <a:r>
              <a:rPr lang="en-US" altLang="zh-CN" dirty="0"/>
              <a:t>》</a:t>
            </a:r>
            <a:r>
              <a:rPr lang="zh-CN" altLang="en-US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89666A-7FE2-A208-41FB-D161D0D13E3E}"/>
              </a:ext>
            </a:extLst>
          </p:cNvPr>
          <p:cNvSpPr txBox="1"/>
          <p:nvPr/>
        </p:nvSpPr>
        <p:spPr>
          <a:xfrm flipV="1">
            <a:off x="9426632" y="425611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effectLst>
                  <a:reflection blurRad="6350" stA="50000" endA="300" endPos="50000" dist="29997" dir="5400000" sy="-100000" algn="bl" rotWithShape="0"/>
                </a:effectLst>
              </a:rPr>
              <a:t>明德</a:t>
            </a:r>
          </a:p>
        </p:txBody>
      </p:sp>
    </p:spTree>
    <p:extLst>
      <p:ext uri="{BB962C8B-B14F-4D97-AF65-F5344CB8AC3E}">
        <p14:creationId xmlns:p14="http://schemas.microsoft.com/office/powerpoint/2010/main" val="56790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2641F-4A08-97B3-E4D8-67EF72FE4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1462" y="653678"/>
            <a:ext cx="2249978" cy="5270526"/>
          </a:xfrm>
        </p:spPr>
        <p:txBody>
          <a:bodyPr/>
          <a:lstStyle/>
          <a:p>
            <a:pPr algn="ctr"/>
            <a:r>
              <a:rPr lang="zh-CN" altLang="en-US" dirty="0"/>
              <a:t>阴谋？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A0C02-9988-46F1-2AAA-D9C4E586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745" y="764515"/>
            <a:ext cx="6550429" cy="52705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将欲翕之，必固张之；将欲弱之，必固强之；将欲废之，必固兴之；将欲夺之，必固与之。是谓微明。柔弱胜刚强。鱼不可脱於渊，国之利器不可以示人。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《</a:t>
            </a:r>
            <a:r>
              <a:rPr lang="zh-CN" altLang="en-US" dirty="0"/>
              <a:t>韩非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‧</a:t>
            </a:r>
            <a:r>
              <a:rPr lang="zh-CN" altLang="en-US" dirty="0"/>
              <a:t>喻老</a:t>
            </a:r>
            <a:r>
              <a:rPr lang="en-US" altLang="zh-CN" dirty="0"/>
              <a:t>》</a:t>
            </a:r>
            <a:r>
              <a:rPr lang="zh-CN" altLang="en-US" dirty="0"/>
              <a:t>：越王入宦于吴，而观之伐齐以弊吴。吴兵既胜齐人于艾陵，张之于江、济，强之于黄池，故可制于五湖。故曰：“将欲翕之，必固张之；将欲弱之，必固强之。”晋献公将欲袭虞，遗之以璧马；知伯将袭仇由，遗之以广车。故曰：“将欲取之，必固与之。”</a:t>
            </a:r>
          </a:p>
        </p:txBody>
      </p:sp>
    </p:spTree>
    <p:extLst>
      <p:ext uri="{BB962C8B-B14F-4D97-AF65-F5344CB8AC3E}">
        <p14:creationId xmlns:p14="http://schemas.microsoft.com/office/powerpoint/2010/main" val="64344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FE7A8-C6AC-B0C1-D758-E598F3C5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156" y="1052688"/>
            <a:ext cx="2682240" cy="4982351"/>
          </a:xfrm>
        </p:spPr>
        <p:txBody>
          <a:bodyPr/>
          <a:lstStyle/>
          <a:p>
            <a:pPr algn="ctr"/>
            <a:r>
              <a:rPr lang="zh-CN" altLang="en-US" dirty="0"/>
              <a:t>反、不自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7A3AF4-B02D-13DF-197A-B8D49CA8D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052688"/>
            <a:ext cx="6957754" cy="498235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 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天长地久。天地所以能长且久者，以其不自生，故能长生。是以圣人后其身而身先，外其身而身存。不以其无私邪，故能成其私。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贵以贱为本，高以下为基。是以侯王自谓孤寡、不谷，此其以贱为本邪？非乎？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柔胜刚，弱胜强，天下莫不知，莫能行。是以圣人言：受国之垢，是为社稷主；受国不祥，是为天下王。正言若反。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反者道之动，弱者道之用。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88517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ABEF9-FB40-DA0E-851C-997B6F3D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9419" y="581633"/>
            <a:ext cx="2238893" cy="536473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柔弱</a:t>
            </a:r>
            <a:br>
              <a:rPr lang="en-US" altLang="zh-CN" dirty="0"/>
            </a:br>
            <a:r>
              <a:rPr lang="zh-CN" altLang="en-US" dirty="0"/>
              <a:t>居下</a:t>
            </a:r>
            <a:br>
              <a:rPr lang="en-US" altLang="zh-CN" dirty="0"/>
            </a:br>
            <a:r>
              <a:rPr lang="zh-CN" altLang="en-US" dirty="0"/>
              <a:t>不争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D6B8F6-2361-DA85-CD7C-7CF873383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764771"/>
            <a:ext cx="7179426" cy="52702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</a:t>
            </a:r>
          </a:p>
          <a:p>
            <a:pPr marL="0" indent="0">
              <a:buNone/>
            </a:pPr>
            <a:r>
              <a:rPr lang="en-US" altLang="zh-CN" dirty="0"/>
              <a:t>      《</a:t>
            </a:r>
            <a:r>
              <a:rPr lang="zh-CN" altLang="en-US" dirty="0"/>
              <a:t>庄子</a:t>
            </a:r>
            <a:r>
              <a:rPr lang="en-US" altLang="zh-CN" dirty="0"/>
              <a:t>‧</a:t>
            </a:r>
            <a:r>
              <a:rPr lang="zh-CN" altLang="en-US" dirty="0"/>
              <a:t>天下</a:t>
            </a:r>
            <a:r>
              <a:rPr lang="en-US" altLang="zh-CN" dirty="0"/>
              <a:t>》</a:t>
            </a:r>
            <a:r>
              <a:rPr lang="zh-CN" altLang="en-US" dirty="0"/>
              <a:t>：以濡弱谦下为表，以空虚不毁万物为实。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上善若水。水善利万物而不争，处众人之所恶，故几于道。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江海所以能为百谷王者，以其善下之，故能为百谷王。是以圣人欲上人，以其言下之；欲先人，以其身后之。是以处上而人不重，处前而人不害。是以天下乐推而不厌。以其不争，故天下莫能与之争。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天之道，其犹张弓乎。高者抑之，下者举之，有余者损之，不足者与之。天道损有余而补不足。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功成名遂身退，天之道。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坚强者死之徒，柔弱者生之徒。</a:t>
            </a:r>
          </a:p>
        </p:txBody>
      </p:sp>
    </p:spTree>
    <p:extLst>
      <p:ext uri="{BB962C8B-B14F-4D97-AF65-F5344CB8AC3E}">
        <p14:creationId xmlns:p14="http://schemas.microsoft.com/office/powerpoint/2010/main" val="157307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169BC-DC23-4B04-3BF3-3B56B27C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4495" y="1130274"/>
            <a:ext cx="1679170" cy="4904766"/>
          </a:xfrm>
        </p:spPr>
        <p:txBody>
          <a:bodyPr/>
          <a:lstStyle/>
          <a:p>
            <a:pPr algn="ctr"/>
            <a:r>
              <a:rPr lang="zh-CN" altLang="en-US" dirty="0"/>
              <a:t>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BA630-B42C-855F-D48E-EB8E4B440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069571"/>
            <a:ext cx="6531033" cy="4965469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夫天下神器，不可为也。为者败之，执者失之。凡物或行或随，或噤或吹，或强或剉，或培或堕。是以圣人去甚，去奢，去泰。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有无之相生，难易之相成，长短之相形，高下之相倾，音声之相和，前后之相随。是以圣人处无为之事，行不言之教。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8384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2569-BE2F-DD17-5B58-B9F16ED0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91" y="822959"/>
            <a:ext cx="2033847" cy="5018117"/>
          </a:xfrm>
        </p:spPr>
        <p:txBody>
          <a:bodyPr/>
          <a:lstStyle/>
          <a:p>
            <a:pPr algn="ctr"/>
            <a:r>
              <a:rPr lang="zh-CN" altLang="en-US" dirty="0"/>
              <a:t>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33050B-7E59-F85F-41AF-25D47BAAF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7848" y="822959"/>
            <a:ext cx="7331826" cy="52120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以辅万物之自然，而不敢为。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道大，天大，地大，王亦大。域中有四大，而王居其一焉。人法地，地法天，天法道，道法自然。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不尚贤，使民不争；不贵难得之货，使民不为盗；不见可欲，使心不乱。是以圣人之治，虚其心，实其腹，弱其志，强其骨，常使民无知无欲。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五色令人目盲，五音令人耳聋，五味令人口爽，驰骋田猎令人心发狂，难得之货令人行妨。是以圣人为腹不为目，故去彼取此。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圣人自知不自见，自爱不自贵，故去彼取此。</a:t>
            </a:r>
          </a:p>
        </p:txBody>
      </p:sp>
    </p:spTree>
    <p:extLst>
      <p:ext uri="{BB962C8B-B14F-4D97-AF65-F5344CB8AC3E}">
        <p14:creationId xmlns:p14="http://schemas.microsoft.com/office/powerpoint/2010/main" val="6496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C0AB0-4761-B4DF-CCD3-6491525B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047" y="930768"/>
            <a:ext cx="1936865" cy="5104271"/>
          </a:xfrm>
        </p:spPr>
        <p:txBody>
          <a:bodyPr/>
          <a:lstStyle/>
          <a:p>
            <a:pPr algn="ctr"/>
            <a:r>
              <a:rPr lang="zh-CN" altLang="en-US" dirty="0"/>
              <a:t>婴儿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C46155-A84B-7820-369D-4FDD7A01F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701" y="1041862"/>
            <a:ext cx="7198823" cy="499317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知其雄，守其雌，为天下溪。为天下溪，常德不离，复归於婴儿。知其白，守其辱，为天下谷。为天下谷，常德乃足，复归于朴。朴散则为器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……</a:t>
            </a:r>
          </a:p>
          <a:p>
            <a:pPr marL="0" indent="0">
              <a:buNone/>
            </a:pPr>
            <a:endParaRPr lang="en-US" altLang="zh-CN" dirty="0"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marL="0" indent="0">
              <a:buNone/>
            </a:pPr>
            <a:r>
              <a:rPr lang="zh-CN" altLang="en-US" dirty="0"/>
              <a:t>     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含德之厚者，比于赤子</a:t>
            </a:r>
            <a:r>
              <a:rPr lang="en-US" altLang="zh-CN" dirty="0">
                <a:latin typeface="DFKai-SB" panose="03000509000000000000" pitchFamily="65" charset="-120"/>
                <a:ea typeface="DFKai-SB" panose="03000509000000000000" pitchFamily="65" charset="-120"/>
              </a:rPr>
              <a:t>……</a:t>
            </a:r>
            <a:r>
              <a:rPr lang="zh-CN" altLang="en-US" dirty="0"/>
              <a:t>知和曰常，知常曰明，益生曰祥，心使气则强。物壮则老，谓之不道，不道早已。</a:t>
            </a:r>
          </a:p>
        </p:txBody>
      </p:sp>
    </p:spTree>
    <p:extLst>
      <p:ext uri="{BB962C8B-B14F-4D97-AF65-F5344CB8AC3E}">
        <p14:creationId xmlns:p14="http://schemas.microsoft.com/office/powerpoint/2010/main" val="337148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5F73C-6473-0DDF-DE7F-6E3C8E7A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79" y="1034806"/>
            <a:ext cx="1875905" cy="4788388"/>
          </a:xfrm>
        </p:spPr>
        <p:txBody>
          <a:bodyPr/>
          <a:lstStyle/>
          <a:p>
            <a:pPr algn="ctr"/>
            <a:r>
              <a:rPr lang="zh-CN" altLang="en-US" dirty="0"/>
              <a:t>道生万物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FDBDE0-91F4-8F15-BC96-58AEF711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886" y="642594"/>
            <a:ext cx="7628313" cy="5392446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无名，万物之始；有名，万物之母。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天下有始，以为天下母。既得其母，以知其子。既知其子，复守其母。没身不殆。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天下之物生于有，有生于无。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道生一，一生二，二生三，三生万物。万物负阴而抱阳，冲气以为和。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昔得一者，天得一以清，地得一以宁，神得一以灵，谷得一盈，侯王得一以为天下正。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336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肥皂</Template>
  <TotalTime>482</TotalTime>
  <Words>2281</Words>
  <Application>Microsoft Office PowerPoint</Application>
  <PresentationFormat>宽屏</PresentationFormat>
  <Paragraphs>129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DFKai-SB</vt:lpstr>
      <vt:lpstr>等线</vt:lpstr>
      <vt:lpstr>黑体</vt:lpstr>
      <vt:lpstr>楷体_GB2312</vt:lpstr>
      <vt:lpstr>宋体</vt:lpstr>
      <vt:lpstr>Century Gothic</vt:lpstr>
      <vt:lpstr>Garamond</vt:lpstr>
      <vt:lpstr>Times New Roman</vt:lpstr>
      <vt:lpstr>肥皂</vt:lpstr>
      <vt:lpstr>中国哲学（上）</vt:lpstr>
      <vt:lpstr>PowerPoint 演示文稿</vt:lpstr>
      <vt:lpstr>PowerPoint 演示文稿</vt:lpstr>
      <vt:lpstr>时代变革</vt:lpstr>
      <vt:lpstr>无为与自然</vt:lpstr>
      <vt:lpstr>道与德</vt:lpstr>
      <vt:lpstr>道与德</vt:lpstr>
      <vt:lpstr>玄德 </vt:lpstr>
      <vt:lpstr>阴谋？</vt:lpstr>
      <vt:lpstr>反、不自</vt:lpstr>
      <vt:lpstr>柔弱 居下 不争</vt:lpstr>
      <vt:lpstr>物</vt:lpstr>
      <vt:lpstr>自然</vt:lpstr>
      <vt:lpstr>婴儿</vt:lpstr>
      <vt:lpstr>道生万物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baihuihong07@126.com</dc:creator>
  <cp:lastModifiedBy>baihuihong07@126.com</cp:lastModifiedBy>
  <cp:revision>7</cp:revision>
  <dcterms:created xsi:type="dcterms:W3CDTF">2026-09-21T13:24:40Z</dcterms:created>
  <dcterms:modified xsi:type="dcterms:W3CDTF">2026-09-27T05:39:53Z</dcterms:modified>
</cp:coreProperties>
</file>