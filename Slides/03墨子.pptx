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3"/>
    <p:sldId id="468" r:id="rId4"/>
    <p:sldId id="471" r:id="rId5"/>
    <p:sldId id="439" r:id="rId6"/>
    <p:sldId id="470" r:id="rId7"/>
    <p:sldId id="472" r:id="rId8"/>
    <p:sldId id="490" r:id="rId9"/>
    <p:sldId id="491" r:id="rId10"/>
    <p:sldId id="414" r:id="rId11"/>
    <p:sldId id="473" r:id="rId12"/>
    <p:sldId id="494" r:id="rId13"/>
    <p:sldId id="493" r:id="rId14"/>
    <p:sldId id="445" r:id="rId15"/>
    <p:sldId id="477" r:id="rId16"/>
    <p:sldId id="496" r:id="rId17"/>
    <p:sldId id="497" r:id="rId18"/>
    <p:sldId id="498" r:id="rId19"/>
    <p:sldId id="499" r:id="rId20"/>
    <p:sldId id="500" r:id="rId21"/>
    <p:sldId id="451" r:id="rId22"/>
    <p:sldId id="484" r:id="rId23"/>
    <p:sldId id="501" r:id="rId24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44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83" autoAdjust="0"/>
  </p:normalViewPr>
  <p:slideViewPr>
    <p:cSldViewPr snapToGrid="0" showGuides="1">
      <p:cViewPr varScale="1">
        <p:scale>
          <a:sx n="85" d="100"/>
          <a:sy n="85" d="100"/>
        </p:scale>
        <p:origin x="48" y="62"/>
      </p:cViewPr>
      <p:guideLst>
        <p:guide pos="416"/>
        <p:guide pos="7256"/>
        <p:guide orient="horz" pos="648"/>
        <p:guide orient="horz" pos="744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3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85F5D-EB2F-4FB1-B480-9E4327591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62785-86A3-400D-9182-96AB45421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66900" y="1778000"/>
            <a:ext cx="8445500" cy="18335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873418" y="3788572"/>
            <a:ext cx="6432464" cy="759253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861300" y="5859780"/>
            <a:ext cx="3657600" cy="27432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38300" y="1956773"/>
            <a:ext cx="89027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638300" y="3333878"/>
            <a:ext cx="8902700" cy="15164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022600" y="2199840"/>
            <a:ext cx="6134100" cy="211816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861300" y="5859780"/>
            <a:ext cx="3657600" cy="27432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6900" y="1778000"/>
            <a:ext cx="8445500" cy="1833596"/>
          </a:xfrm>
        </p:spPr>
        <p:txBody>
          <a:bodyPr>
            <a:normAutofit/>
          </a:bodyPr>
          <a:lstStyle/>
          <a:p>
            <a:pPr lvl="0"/>
            <a:r>
              <a:rPr lang="zh-CN" altLang="en-US" sz="4000" dirty="0"/>
              <a:t>中国哲学（上）</a:t>
            </a:r>
            <a:endParaRPr lang="zh-CN" altLang="en-US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61300" y="5153025"/>
            <a:ext cx="2797175" cy="981075"/>
          </a:xfrm>
        </p:spPr>
        <p:txBody>
          <a:bodyPr>
            <a:normAutofit/>
          </a:bodyPr>
          <a:lstStyle/>
          <a:p>
            <a:pPr lvl="0"/>
            <a:r>
              <a:rPr lang="zh-CN" altLang="en-US" sz="2000" dirty="0" smtClean="0"/>
              <a:t>孟庆楠、白辉洪</a:t>
            </a:r>
            <a:endParaRPr lang="zh-CN" altLang="en-US" sz="2000" dirty="0" smtClean="0"/>
          </a:p>
          <a:p>
            <a:pPr lvl="0"/>
            <a:r>
              <a:rPr lang="en-US" sz="2000" dirty="0"/>
              <a:t>2026-27-1</a:t>
            </a:r>
            <a:endParaRPr lang="en-US" sz="20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6900" y="1778000"/>
            <a:ext cx="8445500" cy="1833596"/>
          </a:xfrm>
        </p:spPr>
        <p:txBody>
          <a:bodyPr>
            <a:normAutofit/>
          </a:bodyPr>
          <a:lstStyle/>
          <a:p>
            <a:pPr lvl="0"/>
            <a:r>
              <a:rPr lang="zh-CN" altLang="en-US" sz="4000" dirty="0"/>
              <a:t>第三讲</a:t>
            </a:r>
            <a:r>
              <a:rPr lang="en-US" altLang="zh-CN" sz="4000" dirty="0"/>
              <a:t>  </a:t>
            </a:r>
            <a:r>
              <a:rPr lang="zh-CN" altLang="en-US" sz="4000" dirty="0"/>
              <a:t>墨子</a:t>
            </a:r>
            <a:endParaRPr lang="zh-CN" altLang="en-US" sz="40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墨子其人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盖墨翟，宋之大夫，善守御，为节用。或曰并孔子时，或曰在其后。（《史记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·孟子荀卿列传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公输盘为楚造云梯之械，成，将以攻宋。子墨子闻之，起于齐，行十日十夜而至于郢，见公输盘。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墨子解带为城，以牒为械，公输盘九设攻城之机变，子墨子九距之。公输盘之攻械尽，子墨子之守圉有馀。公输盘诎，而曰：“吾知所以距子矣，吾不言。”子墨子亦曰：“吾知子之所以距我，吾不言。”楚王问其故，子墨子曰：“公输子之意，不过欲杀臣。杀臣，宋莫能守，可攻也。然臣之弟子禽滑厘等三百人，已持臣守圉之器，在宋城上而待楚寇矣。虽杀臣，不能绝也。”楚王曰：“善哉！吾请无攻宋矣。”子墨子归，过宋。天雨，庇其闾中，守闾者不内也。（《墨子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·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公输》）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一、墨子与墨家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一、墨子与墨家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墨家与儒家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孔丘、墨翟修先圣之术，通六艺之论。（《淮南子·主术训》）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墨子学儒者之业，受孔子之术。（《淮南子·要略》）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圣王不作，诸侯放恣，处士横议，杨朱、墨翟之言盈天下。天下之言不归杨，则归墨。（《孟子·滕文公下》）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一、墨子与墨家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天下之利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子墨子言曰：仁人之所以为事者，必兴天下之利，除去天下之害，以此为事者也。（《墨子·兼爱中》）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子墨子言曰：今者王公大人为政于国家者，皆欲国家之富，人民之众，刑政之治。 （《墨子·尚贤上》）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一、墨子与墨家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天下之利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十大主张：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兼爱、非攻、非乐、非命、节用、节葬、尚贤、尚同、天志、明鬼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墨子曰：凡入国，必择务而从事焉。国家昏乱，则语之尚贤、尚同；国家贫，则语之节用、节葬；国家憙音而湛湎，则语之非乐、非命；国家淫僻无礼，则语之尊天、事鬼；国家务夺、侵凌，即语之兼爱、非攻。故曰：择务而从事焉。（《墨子·鲁问》） 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一、墨子与墨家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言立三表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言而毋仪，譬犹运钧之上而立朝夕者也，是非利害之辨，不可得而明知也。故言必有三表。何谓三表？子墨子言曰：有本之者，有原之者，有用之者。于何本之？上本之于古者圣王之事。于何原之？下原察百姓耳目之实。于何用之？废以为刑政，观其中国家百姓人民之利。此所谓言有三表也。（《墨子·非命上》） 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二、不相爱与兼爱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二、不相爱与兼爱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害之生：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不相爱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墨子言曰：仁人之所以为事者，必兴天下之利，除去天下之害，以此为事者也。然则天下之利何也？天下之害何也？子墨子言曰：今若国之与国之相攻，家之与家之相篡，人之与人之相贼，君臣不惠忠，父子不慈孝，兄弟不和调，此则天下之害也。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（《墨子·兼爱中》）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二、不相爱与兼爱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害之生：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不相爱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然则察此害亦何用生哉？以不相爱生邪？子墨子言：以不相爱生。今诸侯独知爱其国，不爱人之国，是以不惮举其国，以攻人之国。今家主独知爱其家，而不爱人之家，是以不惮举其家，以篡人之家。今人独知爱其身，不爱人之身，是以不惮举其身，以贼人之身。是故诸侯不相爱，则必野战。家主不相爱，则必相篡。人与人不相爱，则必相贼。君臣不相爱，则不惠忠。父子不相爱，则不慈孝。兄弟不相爱，则不和调。天下之人皆不相爱，强必执弱，富必侮贫，贵必敖贱，诈必欺愚。凡天下祸篡怨恨，其所以起者，以不相爱生也。是以仁者非之。（《墨子·兼爱中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二、不相爱与兼爱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除害之法：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兼爱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既以非之，何以易之？子墨子言曰：以兼相爱、交相利之法易之。然则兼相爱、交相利之法将奈何哉？子墨子言：视人之国，若视其国。视人之家，若视其家。视人之身，若视其身。是故诸侯相爱，则不野战。家主相爱，则不相篡。人与人相爱，则不相贼。君臣相爱，则惠忠。父子相爱，则慈孝。兄弟相爱，则和调。天下之人皆相爱，强不执弱，众不劫寡，富不侮贫，贵不敖贱，诈不欺愚。凡天下祸篡怨恨，可使毋起者，以相爱生也。是以仁者誉之。（《墨子·兼爱中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三、交相非与尚同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三、交相非与尚同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害之生：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交相非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墨子言曰：古者民始生、未有刑政之时，盖其语，人异义。是以一人则一义，二人则二义，十人则十义。其人兹衆，其所谓义者亦兹衆。是以人是其义，以非人之义，故交相非也。是以内者父子、兄弟作怨恶，离散不能相和合。天下之百姓，皆以水火、毒药相亏害。至有余力，不能以相劳。腐朽余财，不以相分。隐匿良道，不以相教。天下之乱，若禽兽然。（《墨子·尚同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三、交相非与尚同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除害之法：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尚同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夫明乎天下之所以乱者，生于无政长，是故选天下之贤可者，立以为天子。天子立，以其力为未足，又选择天下之贤可者，置立之以为三公。天子、三公既以立，以天下为博大，远国异土之民、是非利害之辩，不可一二而明知，故画分万国，立诸侯国君。诸侯国君既已立，以其力为未足，又选择其国之贤可者，置立之以为正长。正长既已具，天子发政于天下之百姓，言曰：“闻善而不善，皆以告其上。上之所是，必皆是之。所非，必皆非之。上有过，则规谏之。下有善，则傍荐之。上同而不下比者，此上之所赏，而下之所誉也。意若闻善而不善，不以告其上。上之所是弗能是，上之所非弗能非。上有过弗规谏，下有善弗傍荐。下比不能上同者，此上之所罚，而百姓所毁也。”上以此为赏罚，甚明察以审信。（《墨子·尚同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三、交相非与尚同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除害之法：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尚同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是故里长者，里之仁人也。里长发政里之百姓，言曰：“闻善而不善，必以告其乡长。乡长之所是，必皆是之。乡长之所非，必皆非之。去若不善言，学乡长之善言。去若不善行，学乡长之善行。则乡何说以乱哉？”察乡之所治者，何也？乡长唯能壹同乡之义，是以乡治也。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乡长者，乡之仁人也。乡长发政乡之百姓，言曰：“闻善而不善者，必以告国君。国君之所是，必皆是之。国君之所非，必皆非之。去若不善言，学国君之善言。去若不善行，学国君之善行。则国何说以乱哉？”察国之所以治者，何也？国君唯能壹同国之义，是以国治也。（《墨子·尚同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三、交相非与尚同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除害之法：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尚同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国君者，国之仁人也。国君发政国之百姓，言曰：“闻善而不善，必以告天子。天子之所是，皆是之。天子之所非，皆非之。去若不善言，学天子之善言，去若不善行，学天子之善行。则天下何说以乱哉？”察天下之所以治者，何也？天子唯能壹同天下之义，是以天下以治也。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夫既尚同乎天子，而未上同乎天者，则天菑将犹未止也。故当若天降寒热不节，雪霜雨露不时，五谷不孰，六畜不遂，疾菑戾疫，飘风苦雨，荐臻而至者，此天之降罚也，将以罚下人之不尚同乎天者也。故古者圣王，明天鬼之所欲，而避天鬼之所憎，以求兴天下之利，除天下之害。（《墨子·尚同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三、交相非与尚同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除害之法：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尚同的保障：尚贤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选天下之贤可者（《墨子·尚同上》）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墨子言曰：今者王公大人为政于国家者，皆欲国家之富，人民之衆，刑政之治。然而不得富而得贫，不得衆而得寡，不得治而得乱，则是本失其所欲，得其所恶。是其故何也？子墨子言曰：是在王公大人为政于国家者，不能以尚贤事能为政也。是故国有贤良之士衆，则国家之治厚，贤良之士寡，则国家之治薄。故大人之务，将在于衆贤而已。（《墨子·尚贤上》）</a:t>
              </a:r>
              <a:endParaRPr lang="en-US" altLang="zh-CN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三、交相非与尚同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除害之法：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尚同、尚贤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>
                  <a:solidFill>
                    <a:schemeClr val="bg1"/>
                  </a:solidFill>
                  <a:sym typeface="+mn-ea"/>
                </a:rPr>
                <a:t>对比儒家：</a:t>
              </a:r>
              <a:endParaRPr 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>
                  <a:solidFill>
                    <a:schemeClr val="bg1"/>
                  </a:solidFill>
                  <a:sym typeface="+mn-ea"/>
                </a:rPr>
                <a:t>天子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—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国君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—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乡长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—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里长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亲亲与尊贤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四、对儒家的批评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四、对儒家的批评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节葬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儒家：厚葬久丧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今唯无以厚葬久丧者为政。国家必贫，人民必寡，刑政必乱。（《墨子·节葬下》）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四、对儒家的批评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非乐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儒家：礼乐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墨子言曰：仁之事者，必务求兴天下之利，除天下之害。将以为法乎天下，利人乎即为，不利人乎即止。且夫仁者之为天下度也，非为其目之所美，耳之所乐，口之所甘，身体之所安，以此亏夺民衣食之财，仁者弗为也。（《墨子·非乐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LIDE.THEME" val="https://www.islide.cc;"/>
</p:tagLst>
</file>

<file path=ppt/tags/tag2.xml><?xml version="1.0" encoding="utf-8"?>
<p:tagLst xmlns:p="http://schemas.openxmlformats.org/presentationml/2006/main">
  <p:tag name="ISLIDE.THEME" val="https://www.islide.cc;"/>
</p:tagLst>
</file>

<file path=ppt/tags/tag3.xml><?xml version="1.0" encoding="utf-8"?>
<p:tagLst xmlns:p="http://schemas.openxmlformats.org/presentationml/2006/main">
  <p:tag name="ISLIDE.DIAGRAM" val="4318"/>
</p:tagLst>
</file>

<file path=ppt/tags/tag4.xml><?xml version="1.0" encoding="utf-8"?>
<p:tagLst xmlns:p="http://schemas.openxmlformats.org/presentationml/2006/main">
  <p:tag name="ISLIDE.THEME" val="https://www.islide.cc;"/>
</p:tagLst>
</file>

<file path=ppt/tags/tag5.xml><?xml version="1.0" encoding="utf-8"?>
<p:tagLst xmlns:p="http://schemas.openxmlformats.org/presentationml/2006/main">
  <p:tag name="ISLIDE.DIAGRAM" val="4318"/>
</p:tagLst>
</file>

<file path=ppt/tags/tag6.xml><?xml version="1.0" encoding="utf-8"?>
<p:tagLst xmlns:p="http://schemas.openxmlformats.org/presentationml/2006/main">
  <p:tag name="ISLIDE.DIAGRAM" val="4318"/>
</p:tagLst>
</file>

<file path=ppt/tags/tag7.xml><?xml version="1.0" encoding="utf-8"?>
<p:tagLst xmlns:p="http://schemas.openxmlformats.org/presentationml/2006/main">
  <p:tag name="ISLIDE.DIAGRAM" val="4318"/>
</p:tagLst>
</file>

<file path=ppt/tags/tag8.xml><?xml version="1.0" encoding="utf-8"?>
<p:tagLst xmlns:p="http://schemas.openxmlformats.org/presentationml/2006/main">
  <p:tag name="ISLIDE.DIAGRAM" val="4318"/>
</p:tagLst>
</file>

<file path=ppt/tags/tag9.xml><?xml version="1.0" encoding="utf-8"?>
<p:tagLst xmlns:p="http://schemas.openxmlformats.org/presentationml/2006/main">
  <p:tag name="ISLIDE.THEME" val="https://www.islide.cc;"/>
</p:tagLst>
</file>

<file path=ppt/tags/tag10.xml><?xml version="1.0" encoding="utf-8"?>
<p:tagLst xmlns:p="http://schemas.openxmlformats.org/presentationml/2006/main">
  <p:tag name="ISLIDE.DIAGRAM" val="4318"/>
</p:tagLst>
</file>

<file path=ppt/tags/tag11.xml><?xml version="1.0" encoding="utf-8"?>
<p:tagLst xmlns:p="http://schemas.openxmlformats.org/presentationml/2006/main">
  <p:tag name="ISLIDE.DIAGRAM" val="4318"/>
</p:tagLst>
</file>

<file path=ppt/tags/tag12.xml><?xml version="1.0" encoding="utf-8"?>
<p:tagLst xmlns:p="http://schemas.openxmlformats.org/presentationml/2006/main">
  <p:tag name="ISLIDE.DIAGRAM" val="4318"/>
</p:tagLst>
</file>

<file path=ppt/tags/tag13.xml><?xml version="1.0" encoding="utf-8"?>
<p:tagLst xmlns:p="http://schemas.openxmlformats.org/presentationml/2006/main">
  <p:tag name="ISLIDE.THEME" val="https://www.islide.cc;"/>
</p:tagLst>
</file>

<file path=ppt/tags/tag14.xml><?xml version="1.0" encoding="utf-8"?>
<p:tagLst xmlns:p="http://schemas.openxmlformats.org/presentationml/2006/main">
  <p:tag name="ISLIDE.DIAGRAM" val="4318"/>
</p:tagLst>
</file>

<file path=ppt/tags/tag15.xml><?xml version="1.0" encoding="utf-8"?>
<p:tagLst xmlns:p="http://schemas.openxmlformats.org/presentationml/2006/main">
  <p:tag name="ISLIDE.DIAGRAM" val="4318"/>
</p:tagLst>
</file>

<file path=ppt/tags/tag16.xml><?xml version="1.0" encoding="utf-8"?>
<p:tagLst xmlns:p="http://schemas.openxmlformats.org/presentationml/2006/main">
  <p:tag name="ISLIDE.DIAGRAM" val="4318"/>
</p:tagLst>
</file>

<file path=ppt/tags/tag17.xml><?xml version="1.0" encoding="utf-8"?>
<p:tagLst xmlns:p="http://schemas.openxmlformats.org/presentationml/2006/main">
  <p:tag name="ISLIDE.DIAGRAM" val="4318"/>
</p:tagLst>
</file>

<file path=ppt/tags/tag18.xml><?xml version="1.0" encoding="utf-8"?>
<p:tagLst xmlns:p="http://schemas.openxmlformats.org/presentationml/2006/main">
  <p:tag name="ISLIDE.DIAGRAM" val="4318"/>
</p:tagLst>
</file>

<file path=ppt/tags/tag19.xml><?xml version="1.0" encoding="utf-8"?>
<p:tagLst xmlns:p="http://schemas.openxmlformats.org/presentationml/2006/main">
  <p:tag name="ISLIDE.DIAGRAM" val="4318"/>
</p:tagLst>
</file>

<file path=ppt/tags/tag20.xml><?xml version="1.0" encoding="utf-8"?>
<p:tagLst xmlns:p="http://schemas.openxmlformats.org/presentationml/2006/main">
  <p:tag name="ISLIDE.THEME" val="https://www.islide.cc;"/>
</p:tagLst>
</file>

<file path=ppt/tags/tag21.xml><?xml version="1.0" encoding="utf-8"?>
<p:tagLst xmlns:p="http://schemas.openxmlformats.org/presentationml/2006/main">
  <p:tag name="ISLIDE.DIAGRAM" val="4318"/>
</p:tagLst>
</file>

<file path=ppt/tags/tag22.xml><?xml version="1.0" encoding="utf-8"?>
<p:tagLst xmlns:p="http://schemas.openxmlformats.org/presentationml/2006/main">
  <p:tag name="ISLIDE.DIAGRAM" val="4318"/>
</p:tagLst>
</file>

<file path=ppt/tags/tag23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#935486"/>
  <p:tag name="commondata" val="eyJoZGlkIjoiYjU4MmJkNDBiNTI5Njk5MzUyMmUzNDc3ZmZjYzczM2MifQ==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5D99A7"/>
      </a:accent1>
      <a:accent2>
        <a:srgbClr val="E5B952"/>
      </a:accent2>
      <a:accent3>
        <a:srgbClr val="C6CBCC"/>
      </a:accent3>
      <a:accent4>
        <a:srgbClr val="ADB0B1"/>
      </a:accent4>
      <a:accent5>
        <a:srgbClr val="8E9090"/>
      </a:accent5>
      <a:accent6>
        <a:srgbClr val="787B7B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3020</Words>
  <Application>WPS 演示</Application>
  <PresentationFormat>宽屏</PresentationFormat>
  <Paragraphs>194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FZQingKeBenYueSongS-R-GB</vt:lpstr>
      <vt:lpstr>Arial Unicode MS</vt:lpstr>
      <vt:lpstr>等线</vt:lpstr>
      <vt:lpstr>MS PGothic</vt:lpstr>
      <vt:lpstr>黑体</vt:lpstr>
      <vt:lpstr>Designed by iSlide</vt:lpstr>
      <vt:lpstr>中国哲学（上）</vt:lpstr>
      <vt:lpstr>第二讲  孔子</vt:lpstr>
      <vt:lpstr>PowerPoint 演示文稿</vt:lpstr>
      <vt:lpstr>一、孔子与儒家</vt:lpstr>
      <vt:lpstr>一、孔子与儒家</vt:lpstr>
      <vt:lpstr>一、孔子与儒家</vt:lpstr>
      <vt:lpstr>一、墨子与墨家</vt:lpstr>
      <vt:lpstr>一、墨子与墨家</vt:lpstr>
      <vt:lpstr>二、名与礼</vt:lpstr>
      <vt:lpstr>二、名与礼</vt:lpstr>
      <vt:lpstr>二、不相爱与兼爱</vt:lpstr>
      <vt:lpstr>二、不相爱与兼爱</vt:lpstr>
      <vt:lpstr>三、仁</vt:lpstr>
      <vt:lpstr>三、仁</vt:lpstr>
      <vt:lpstr>三、交相非与尚同</vt:lpstr>
      <vt:lpstr>三、交相非与尚同</vt:lpstr>
      <vt:lpstr>三、交相非与尚同</vt:lpstr>
      <vt:lpstr>三、交相非与尚同</vt:lpstr>
      <vt:lpstr>三、交相非与尚同</vt:lpstr>
      <vt:lpstr>四、教化</vt:lpstr>
      <vt:lpstr>四、教化</vt:lpstr>
      <vt:lpstr>四、对儒家的批评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儒家仁爱观念在伦理结构中的展开</dc:title>
  <dc:creator>iSlide</dc:creator>
  <cp:lastModifiedBy>孟庆楠</cp:lastModifiedBy>
  <cp:revision>71</cp:revision>
  <cp:lastPrinted>2024-01-17T16:00:00Z</cp:lastPrinted>
  <dcterms:created xsi:type="dcterms:W3CDTF">2024-01-17T16:00:00Z</dcterms:created>
  <dcterms:modified xsi:type="dcterms:W3CDTF">2026-09-21T01:43:30Z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4a1fdab6-13b4-4b78-bf6e-8435c7fb9ed9</vt:lpwstr>
  </property>
  <property fmtid="{D5CDD505-2E9C-101B-9397-08002B2CF9AE}" pid="3" name="ICV">
    <vt:lpwstr>CDFA8BF229E34B2BBBEC3640D506D0A0_13</vt:lpwstr>
  </property>
  <property fmtid="{D5CDD505-2E9C-101B-9397-08002B2CF9AE}" pid="4" name="KSOProductBuildVer">
    <vt:lpwstr>2052-12.1.0.28505</vt:lpwstr>
  </property>
</Properties>
</file>